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745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745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745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745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745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745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745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745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745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745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745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03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803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803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803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803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803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803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803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803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803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803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803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803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03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832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832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832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832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832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832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832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832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832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862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862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862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862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862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862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862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862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862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862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8862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8862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8862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8862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891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891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891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891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891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891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3891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891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8920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920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8920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920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8920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920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920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920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920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920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920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920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920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920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3949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949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949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949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949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949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3949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3949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3949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949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3949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949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3949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3949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8978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978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978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8978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978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8978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978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8978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8978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8978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978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978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978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8978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008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008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008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008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008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008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008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008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008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008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008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008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4008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008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037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037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037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037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037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9037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037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037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037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037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9037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9037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037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037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066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066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066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4066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066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066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4066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4066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066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066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066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066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66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66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9095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9095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9095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9095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9095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9095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95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95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95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95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95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95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95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95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4124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4124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4124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4124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124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124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4124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4124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4124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4124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4124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4124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4124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4124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154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154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154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9154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9154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9154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154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9154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9154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9154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9154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9154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9154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9154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4183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4183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4183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4183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183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4183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4183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4183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4183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4183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4183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4183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4183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4183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99212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9212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9212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9212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9212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9212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9212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9212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9212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212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9212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9212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99212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9212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4241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04241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4241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4241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4241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04241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4241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4241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04241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4241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4241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4241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4241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4241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9270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9270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9270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09270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9270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9270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9270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9270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9270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9270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9270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9270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9270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9270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4300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14300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14300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14300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14300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14300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14300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14300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4300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14300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14300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14300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14300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14300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9329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9329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9329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9329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9329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9329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9329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9329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9329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9329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9329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9329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19329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9329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235440" y="-1463040"/>
            <a:ext cx="4114800" cy="4114800"/>
          </a:xfrm>
          <a:prstGeom prst="ellipse">
            <a:avLst/>
          </a:prstGeom>
          <a:solidFill>
            <a:srgbClr val="123859">
              <a:alpha val="38000"/>
            </a:srgbClr>
          </a:solidFill>
          <a:ln w="12700">
            <a:solidFill>
              <a:srgbClr val="143B60">
                <a:alpha val="75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-1554480" y="5074920"/>
            <a:ext cx="3931920" cy="3931920"/>
          </a:xfrm>
          <a:prstGeom prst="ellipse">
            <a:avLst/>
          </a:prstGeom>
          <a:solidFill>
            <a:srgbClr val="172A50">
              <a:alpha val="40000"/>
            </a:srgbClr>
          </a:solidFill>
          <a:ln w="12700">
            <a:solidFill>
              <a:srgbClr val="182A54">
                <a:alpha val="6500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548640" y="457200"/>
            <a:ext cx="2331720" cy="274320"/>
          </a:xfrm>
          <a:prstGeom prst="roundRect">
            <a:avLst>
              <a:gd name="adj" fmla="val 26667"/>
            </a:avLst>
          </a:prstGeom>
          <a:solidFill>
            <a:srgbClr val="45E6F5">
              <a:alpha val="18000"/>
            </a:srgbClr>
          </a:solidFill>
          <a:ln w="7620">
            <a:solidFill>
              <a:srgbClr val="45E6F5">
                <a:alpha val="60000"/>
              </a:srgbClr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548640" y="507492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INTRODUCTION · 3 MIN</a:t>
            </a:r>
            <a:endParaRPr lang="en-US" sz="750" dirty="0"/>
          </a:p>
        </p:txBody>
      </p:sp>
      <p:sp>
        <p:nvSpPr>
          <p:cNvPr id="342" name="Text 340"/>
          <p:cNvSpPr/>
          <p:nvPr/>
        </p:nvSpPr>
        <p:spPr>
          <a:xfrm>
            <a:off x="530352" y="123444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Agent 可以购买服务</a:t>
            </a:r>
            <a:endParaRPr lang="en-US" sz="3100" dirty="0"/>
          </a:p>
        </p:txBody>
      </p:sp>
      <p:sp>
        <p:nvSpPr>
          <p:cNvPr id="343" name="Text 341"/>
          <p:cNvSpPr/>
          <p:nvPr/>
        </p:nvSpPr>
        <p:spPr>
          <a:xfrm>
            <a:off x="548640" y="19202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MCPay — Agent Commerce on Monad</a:t>
            </a:r>
            <a:endParaRPr lang="en-US" sz="1700" dirty="0"/>
          </a:p>
        </p:txBody>
      </p:sp>
      <p:sp>
        <p:nvSpPr>
          <p:cNvPr id="344" name="Text 342"/>
          <p:cNvSpPr/>
          <p:nvPr/>
        </p:nvSpPr>
        <p:spPr>
          <a:xfrm>
            <a:off x="548640" y="242316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用户给出目标与预算；Agent 在约束内发现、支付并执行陌生 Provider 的服务。</a:t>
            </a:r>
            <a:endParaRPr lang="en-US" sz="1400" dirty="0"/>
          </a:p>
        </p:txBody>
      </p:sp>
      <p:sp>
        <p:nvSpPr>
          <p:cNvPr id="345" name="Shape 343"/>
          <p:cNvSpPr/>
          <p:nvPr/>
        </p:nvSpPr>
        <p:spPr>
          <a:xfrm>
            <a:off x="594360" y="39319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52640"/>
          </a:solidFill>
          <a:ln w="8890">
            <a:solidFill>
              <a:srgbClr val="45E6F5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758952" y="4133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347" name="Text 345"/>
          <p:cNvSpPr/>
          <p:nvPr/>
        </p:nvSpPr>
        <p:spPr>
          <a:xfrm>
            <a:off x="758952" y="44165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300" dirty="0"/>
          </a:p>
        </p:txBody>
      </p:sp>
      <p:sp>
        <p:nvSpPr>
          <p:cNvPr id="348" name="Text 346"/>
          <p:cNvSpPr/>
          <p:nvPr/>
        </p:nvSpPr>
        <p:spPr>
          <a:xfrm>
            <a:off x="758952" y="47365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lang="en-US" sz="850" dirty="0"/>
          </a:p>
        </p:txBody>
      </p:sp>
      <p:sp>
        <p:nvSpPr>
          <p:cNvPr id="349" name="Shape 347"/>
          <p:cNvSpPr/>
          <p:nvPr/>
        </p:nvSpPr>
        <p:spPr>
          <a:xfrm>
            <a:off x="2587752" y="4544568"/>
            <a:ext cx="868680" cy="0"/>
          </a:xfrm>
          <a:prstGeom prst="line">
            <a:avLst/>
          </a:prstGeom>
          <a:noFill/>
          <a:ln w="13970">
            <a:solidFill>
              <a:srgbClr val="7190B8"/>
            </a:solidFill>
            <a:prstDash val="solid"/>
            <a:tailEnd type="triangle"/>
          </a:ln>
        </p:spPr>
      </p:sp>
      <p:sp>
        <p:nvSpPr>
          <p:cNvPr id="350" name="Shape 348"/>
          <p:cNvSpPr/>
          <p:nvPr/>
        </p:nvSpPr>
        <p:spPr>
          <a:xfrm>
            <a:off x="3154680" y="39319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52640"/>
          </a:solidFill>
          <a:ln w="8890">
            <a:solidFill>
              <a:srgbClr val="FFC76A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>
            <a:off x="3319272" y="4133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C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352" name="Text 350"/>
          <p:cNvSpPr/>
          <p:nvPr/>
        </p:nvSpPr>
        <p:spPr>
          <a:xfrm>
            <a:off x="3319272" y="44165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</a:t>
            </a:r>
            <a:endParaRPr lang="en-US" sz="1300" dirty="0"/>
          </a:p>
        </p:txBody>
      </p:sp>
      <p:sp>
        <p:nvSpPr>
          <p:cNvPr id="353" name="Text 351"/>
          <p:cNvSpPr/>
          <p:nvPr/>
        </p:nvSpPr>
        <p:spPr>
          <a:xfrm>
            <a:off x="3319272" y="47365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 MON</a:t>
            </a:r>
            <a:endParaRPr lang="en-US" sz="850" dirty="0"/>
          </a:p>
        </p:txBody>
      </p:sp>
      <p:sp>
        <p:nvSpPr>
          <p:cNvPr id="354" name="Shape 352"/>
          <p:cNvSpPr/>
          <p:nvPr/>
        </p:nvSpPr>
        <p:spPr>
          <a:xfrm>
            <a:off x="5148072" y="4544568"/>
            <a:ext cx="868680" cy="0"/>
          </a:xfrm>
          <a:prstGeom prst="line">
            <a:avLst/>
          </a:prstGeom>
          <a:noFill/>
          <a:ln w="13970">
            <a:solidFill>
              <a:srgbClr val="7190B8"/>
            </a:solidFill>
            <a:prstDash val="solid"/>
            <a:tailEnd type="triangle"/>
          </a:ln>
        </p:spPr>
      </p:sp>
      <p:sp>
        <p:nvSpPr>
          <p:cNvPr id="355" name="Shape 353"/>
          <p:cNvSpPr/>
          <p:nvPr/>
        </p:nvSpPr>
        <p:spPr>
          <a:xfrm>
            <a:off x="5715000" y="39319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52640"/>
          </a:solidFill>
          <a:ln w="8890">
            <a:solidFill>
              <a:srgbClr val="748CFF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5879592" y="4133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4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57" name="Text 355"/>
          <p:cNvSpPr/>
          <p:nvPr/>
        </p:nvSpPr>
        <p:spPr>
          <a:xfrm>
            <a:off x="5879592" y="44165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</a:t>
            </a:r>
            <a:endParaRPr lang="en-US" sz="1300" dirty="0"/>
          </a:p>
        </p:txBody>
      </p:sp>
      <p:sp>
        <p:nvSpPr>
          <p:cNvPr id="358" name="Text 356"/>
          <p:cNvSpPr/>
          <p:nvPr/>
        </p:nvSpPr>
        <p:spPr>
          <a:xfrm>
            <a:off x="5879592" y="47365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 / Monad</a:t>
            </a:r>
            <a:endParaRPr lang="en-US" sz="850" dirty="0"/>
          </a:p>
        </p:txBody>
      </p:sp>
      <p:sp>
        <p:nvSpPr>
          <p:cNvPr id="359" name="Shape 357"/>
          <p:cNvSpPr/>
          <p:nvPr/>
        </p:nvSpPr>
        <p:spPr>
          <a:xfrm>
            <a:off x="7708392" y="4544568"/>
            <a:ext cx="868680" cy="0"/>
          </a:xfrm>
          <a:prstGeom prst="line">
            <a:avLst/>
          </a:prstGeom>
          <a:noFill/>
          <a:ln w="13970">
            <a:solidFill>
              <a:srgbClr val="7190B8"/>
            </a:solidFill>
            <a:prstDash val="solid"/>
            <a:tailEnd type="triangle"/>
          </a:ln>
        </p:spPr>
      </p:sp>
      <p:sp>
        <p:nvSpPr>
          <p:cNvPr id="360" name="Shape 358"/>
          <p:cNvSpPr/>
          <p:nvPr/>
        </p:nvSpPr>
        <p:spPr>
          <a:xfrm>
            <a:off x="8275320" y="39319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52640"/>
          </a:solidFill>
          <a:ln w="8890">
            <a:solidFill>
              <a:srgbClr val="71E6B2"/>
            </a:solidFill>
            <a:prstDash val="solid"/>
          </a:ln>
        </p:spPr>
      </p:sp>
      <p:sp>
        <p:nvSpPr>
          <p:cNvPr id="361" name="Text 359"/>
          <p:cNvSpPr/>
          <p:nvPr/>
        </p:nvSpPr>
        <p:spPr>
          <a:xfrm>
            <a:off x="8439912" y="4133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1E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62" name="Text 360"/>
          <p:cNvSpPr/>
          <p:nvPr/>
        </p:nvSpPr>
        <p:spPr>
          <a:xfrm>
            <a:off x="8439912" y="44165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1300" dirty="0"/>
          </a:p>
        </p:txBody>
      </p:sp>
      <p:sp>
        <p:nvSpPr>
          <p:cNvPr id="363" name="Text 361"/>
          <p:cNvSpPr/>
          <p:nvPr/>
        </p:nvSpPr>
        <p:spPr>
          <a:xfrm>
            <a:off x="8439912" y="47365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364" name="Text 362"/>
          <p:cNvSpPr/>
          <p:nvPr/>
        </p:nvSpPr>
        <p:spPr>
          <a:xfrm>
            <a:off x="566928" y="58064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不是“支付按钮”，而是 Agent 的可验证商业闭环。</a:t>
            </a:r>
            <a:endParaRPr lang="en-US" sz="1300" dirty="0"/>
          </a:p>
        </p:txBody>
      </p:sp>
      <p:sp>
        <p:nvSpPr>
          <p:cNvPr id="365" name="Text 363"/>
          <p:cNvSpPr/>
          <p:nvPr/>
        </p:nvSpPr>
        <p:spPr>
          <a:xfrm>
            <a:off x="502920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719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MCPay · Agent Commerce on Monad</a:t>
            </a:r>
            <a:endParaRPr lang="en-US" sz="750" dirty="0"/>
          </a:p>
        </p:txBody>
      </p:sp>
      <p:sp>
        <p:nvSpPr>
          <p:cNvPr id="366" name="Text 364"/>
          <p:cNvSpPr/>
          <p:nvPr/>
        </p:nvSpPr>
        <p:spPr>
          <a:xfrm>
            <a:off x="1120140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9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745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745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745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745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745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745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745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745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745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745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745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03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803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803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803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803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803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803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803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803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803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803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803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803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03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832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832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832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832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832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832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832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832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832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862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862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862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862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862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862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862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862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862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862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8862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8862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8862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8862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891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891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891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891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891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891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3891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891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8920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920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8920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920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8920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920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920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920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920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920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920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920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920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920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3949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949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949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949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949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949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3949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3949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3949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949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3949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949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3949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3949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8978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978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978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8978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978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8978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978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8978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8978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8978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978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978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978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8978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008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008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008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008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008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008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008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008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008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008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008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008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4008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008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037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037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037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037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037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9037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037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037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037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037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9037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9037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037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037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066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066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066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4066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066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066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4066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4066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066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066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066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066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66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66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9095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9095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9095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9095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9095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9095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95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95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95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95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95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95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95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95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4124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4124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4124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4124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124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124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4124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4124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4124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4124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4124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4124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4124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4124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154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154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154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9154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9154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9154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154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9154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9154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9154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9154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9154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9154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9154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4183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4183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4183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4183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183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4183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4183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4183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4183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4183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4183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4183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4183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4183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99212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9212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9212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9212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9212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9212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9212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9212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9212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212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9212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9212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99212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9212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4241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04241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4241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4241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4241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04241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4241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4241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04241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4241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4241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4241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4241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4241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9270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9270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9270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09270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9270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9270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9270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9270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9270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9270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9270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9270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9270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9270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4300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14300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14300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14300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14300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14300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14300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14300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4300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14300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14300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14300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14300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14300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9329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9329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9329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9329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9329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9329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9329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9329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9329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9329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9329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9329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19329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9329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235440" y="-1463040"/>
            <a:ext cx="4114800" cy="4114800"/>
          </a:xfrm>
          <a:prstGeom prst="ellipse">
            <a:avLst/>
          </a:prstGeom>
          <a:solidFill>
            <a:srgbClr val="E6F3FF">
              <a:alpha val="45000"/>
            </a:srgbClr>
          </a:solidFill>
          <a:ln w="12700">
            <a:solidFill>
              <a:srgbClr val="D4E9FF">
                <a:alpha val="75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-1554480" y="5074920"/>
            <a:ext cx="3931920" cy="3931920"/>
          </a:xfrm>
          <a:prstGeom prst="ellipse">
            <a:avLst/>
          </a:prstGeom>
          <a:solidFill>
            <a:srgbClr val="E9F1FF">
              <a:alpha val="40000"/>
            </a:srgbClr>
          </a:solidFill>
          <a:ln w="12700">
            <a:solidFill>
              <a:srgbClr val="E5EDFF">
                <a:alpha val="65000"/>
              </a:srgbClr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502920" y="384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PROBLEM</a:t>
            </a:r>
            <a:endParaRPr lang="en-US" sz="850" dirty="0"/>
          </a:p>
        </p:txBody>
      </p:sp>
      <p:sp>
        <p:nvSpPr>
          <p:cNvPr id="341" name="Text 339"/>
          <p:cNvSpPr/>
          <p:nvPr/>
        </p:nvSpPr>
        <p:spPr>
          <a:xfrm>
            <a:off x="502920" y="66751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13A"/>
                </a:solidFill>
              </a:rPr>
              <a:t>工具调用，不等于商业能力</a:t>
            </a:r>
            <a:endParaRPr lang="en-US" sz="2500" dirty="0"/>
          </a:p>
        </p:txBody>
      </p:sp>
      <p:sp>
        <p:nvSpPr>
          <p:cNvPr id="342" name="Text 340"/>
          <p:cNvSpPr/>
          <p:nvPr/>
        </p:nvSpPr>
        <p:spPr>
          <a:xfrm>
            <a:off x="521208" y="12801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7797"/>
                </a:solidFill>
              </a:rPr>
              <a:t>Agent 缺少的是一套能在运行时处理陌生服务关系的协议与约束。</a:t>
            </a:r>
            <a:endParaRPr lang="en-US" sz="1100" dirty="0"/>
          </a:p>
        </p:txBody>
      </p:sp>
      <p:sp>
        <p:nvSpPr>
          <p:cNvPr id="343" name="Text 341"/>
          <p:cNvSpPr/>
          <p:nvPr/>
        </p:nvSpPr>
        <p:spPr>
          <a:xfrm>
            <a:off x="502920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MCPay · Agent Commerce on Monad</a:t>
            </a:r>
            <a:endParaRPr lang="en-US" sz="750" dirty="0"/>
          </a:p>
        </p:txBody>
      </p:sp>
      <p:sp>
        <p:nvSpPr>
          <p:cNvPr id="344" name="Text 342"/>
          <p:cNvSpPr/>
          <p:nvPr/>
        </p:nvSpPr>
        <p:spPr>
          <a:xfrm>
            <a:off x="1120140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345" name="Shape 343"/>
          <p:cNvSpPr/>
          <p:nvPr/>
        </p:nvSpPr>
        <p:spPr>
          <a:xfrm>
            <a:off x="685800" y="187452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5E2F2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932688" y="21214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347" name="Shape 345"/>
          <p:cNvSpPr/>
          <p:nvPr/>
        </p:nvSpPr>
        <p:spPr>
          <a:xfrm>
            <a:off x="923544" y="2514600"/>
            <a:ext cx="256032" cy="256032"/>
          </a:xfrm>
          <a:prstGeom prst="ellipse">
            <a:avLst/>
          </a:prstGeom>
          <a:solidFill>
            <a:srgbClr val="45E6F5"/>
          </a:solidFill>
          <a:ln w="12700">
            <a:solidFill>
              <a:srgbClr val="45E6F5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1417320" y="21488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需要什么服务？</a:t>
            </a:r>
            <a:endParaRPr lang="en-US" sz="1450" dirty="0"/>
          </a:p>
        </p:txBody>
      </p:sp>
      <p:sp>
        <p:nvSpPr>
          <p:cNvPr id="349" name="Text 347"/>
          <p:cNvSpPr/>
          <p:nvPr/>
        </p:nvSpPr>
        <p:spPr>
          <a:xfrm>
            <a:off x="1417320" y="25786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77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把目标映射为受支持的 web-research。</a:t>
            </a:r>
            <a:endParaRPr lang="en-US" sz="1000" dirty="0"/>
          </a:p>
        </p:txBody>
      </p:sp>
      <p:sp>
        <p:nvSpPr>
          <p:cNvPr id="350" name="Shape 348"/>
          <p:cNvSpPr/>
          <p:nvPr/>
        </p:nvSpPr>
        <p:spPr>
          <a:xfrm>
            <a:off x="6309360" y="187452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5E2F2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>
            <a:off x="6556248" y="21214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4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352" name="Shape 350"/>
          <p:cNvSpPr/>
          <p:nvPr/>
        </p:nvSpPr>
        <p:spPr>
          <a:xfrm>
            <a:off x="6547104" y="2514600"/>
            <a:ext cx="256032" cy="256032"/>
          </a:xfrm>
          <a:prstGeom prst="ellipse">
            <a:avLst/>
          </a:prstGeom>
          <a:solidFill>
            <a:srgbClr val="748CFF"/>
          </a:solidFill>
          <a:ln w="12700">
            <a:solidFill>
              <a:srgbClr val="748CFF"/>
            </a:solidFill>
            <a:prstDash val="solid"/>
          </a:ln>
        </p:spPr>
      </p:sp>
      <p:sp>
        <p:nvSpPr>
          <p:cNvPr id="353" name="Text 351"/>
          <p:cNvSpPr/>
          <p:nvPr/>
        </p:nvSpPr>
        <p:spPr>
          <a:xfrm>
            <a:off x="7040880" y="21488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多个 Provider，选谁？</a:t>
            </a:r>
            <a:endParaRPr lang="en-US" sz="1450" dirty="0"/>
          </a:p>
        </p:txBody>
      </p:sp>
      <p:sp>
        <p:nvSpPr>
          <p:cNvPr id="354" name="Text 352"/>
          <p:cNvSpPr/>
          <p:nvPr/>
        </p:nvSpPr>
        <p:spPr>
          <a:xfrm>
            <a:off x="7040880" y="25786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77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以声誉、质量、价格、延迟做可复现排序。</a:t>
            </a:r>
            <a:endParaRPr lang="en-US" sz="1000" dirty="0"/>
          </a:p>
        </p:txBody>
      </p:sp>
      <p:sp>
        <p:nvSpPr>
          <p:cNvPr id="355" name="Shape 353"/>
          <p:cNvSpPr/>
          <p:nvPr/>
        </p:nvSpPr>
        <p:spPr>
          <a:xfrm>
            <a:off x="685800" y="388620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5E2F2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932688" y="4133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C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57" name="Shape 355"/>
          <p:cNvSpPr/>
          <p:nvPr/>
        </p:nvSpPr>
        <p:spPr>
          <a:xfrm>
            <a:off x="923544" y="4526280"/>
            <a:ext cx="256032" cy="256032"/>
          </a:xfrm>
          <a:prstGeom prst="ellipse">
            <a:avLst/>
          </a:prstGeom>
          <a:solidFill>
            <a:srgbClr val="FFC76A"/>
          </a:solidFill>
          <a:ln w="12700">
            <a:solidFill>
              <a:srgbClr val="FFC76A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1417320" y="4160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没有预置 API Key，怎么付？</a:t>
            </a:r>
            <a:endParaRPr lang="en-US" sz="1450" dirty="0"/>
          </a:p>
        </p:txBody>
      </p:sp>
      <p:sp>
        <p:nvSpPr>
          <p:cNvPr id="359" name="Text 357"/>
          <p:cNvSpPr/>
          <p:nvPr/>
        </p:nvSpPr>
        <p:spPr>
          <a:xfrm>
            <a:off x="1417320" y="45902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77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402 提供机器可读的付款条款。</a:t>
            </a:r>
            <a:endParaRPr lang="en-US" sz="1000" dirty="0"/>
          </a:p>
        </p:txBody>
      </p:sp>
      <p:sp>
        <p:nvSpPr>
          <p:cNvPr id="360" name="Shape 358"/>
          <p:cNvSpPr/>
          <p:nvPr/>
        </p:nvSpPr>
        <p:spPr>
          <a:xfrm>
            <a:off x="6309360" y="388620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5E2F2"/>
            </a:solidFill>
            <a:prstDash val="solid"/>
          </a:ln>
        </p:spPr>
      </p:sp>
      <p:sp>
        <p:nvSpPr>
          <p:cNvPr id="361" name="Text 359"/>
          <p:cNvSpPr/>
          <p:nvPr/>
        </p:nvSpPr>
        <p:spPr>
          <a:xfrm>
            <a:off x="6556248" y="4133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E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62" name="Shape 360"/>
          <p:cNvSpPr/>
          <p:nvPr/>
        </p:nvSpPr>
        <p:spPr>
          <a:xfrm>
            <a:off x="6547104" y="4526280"/>
            <a:ext cx="256032" cy="256032"/>
          </a:xfrm>
          <a:prstGeom prst="ellipse">
            <a:avLst/>
          </a:prstGeom>
          <a:solidFill>
            <a:srgbClr val="71E6B2"/>
          </a:solidFill>
          <a:ln w="12700">
            <a:solidFill>
              <a:srgbClr val="71E6B2"/>
            </a:solidFill>
            <a:prstDash val="solid"/>
          </a:ln>
        </p:spPr>
      </p:sp>
      <p:sp>
        <p:nvSpPr>
          <p:cNvPr id="363" name="Text 361"/>
          <p:cNvSpPr/>
          <p:nvPr/>
        </p:nvSpPr>
        <p:spPr>
          <a:xfrm>
            <a:off x="7040880" y="4160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付款后如何只执行一次？</a:t>
            </a:r>
            <a:endParaRPr lang="en-US" sz="1450" dirty="0"/>
          </a:p>
        </p:txBody>
      </p:sp>
      <p:sp>
        <p:nvSpPr>
          <p:cNvPr id="364" name="Text 362"/>
          <p:cNvSpPr/>
          <p:nvPr/>
        </p:nvSpPr>
        <p:spPr>
          <a:xfrm>
            <a:off x="7040880" y="45902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77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链上验证 + D1 原子消费支付证明。</a:t>
            </a:r>
            <a:endParaRPr lang="en-US" sz="1000" dirty="0"/>
          </a:p>
        </p:txBody>
      </p:sp>
      <p:sp>
        <p:nvSpPr>
          <p:cNvPr id="365" name="Shape 363"/>
          <p:cNvSpPr/>
          <p:nvPr/>
        </p:nvSpPr>
        <p:spPr>
          <a:xfrm>
            <a:off x="4069080" y="5742432"/>
            <a:ext cx="4041648" cy="274320"/>
          </a:xfrm>
          <a:prstGeom prst="roundRect">
            <a:avLst>
              <a:gd name="adj" fmla="val 26667"/>
            </a:avLst>
          </a:prstGeom>
          <a:solidFill>
            <a:srgbClr val="748CFF">
              <a:alpha val="20000"/>
            </a:srgbClr>
          </a:solidFill>
          <a:ln w="7620">
            <a:solidFill>
              <a:srgbClr val="748CFF">
                <a:alpha val="90000"/>
              </a:srgbClr>
            </a:solidFill>
            <a:prstDash val="solid"/>
          </a:ln>
        </p:spPr>
      </p:sp>
      <p:sp>
        <p:nvSpPr>
          <p:cNvPr id="366" name="Text 364"/>
          <p:cNvSpPr/>
          <p:nvPr/>
        </p:nvSpPr>
        <p:spPr>
          <a:xfrm>
            <a:off x="4069080" y="5792724"/>
            <a:ext cx="4041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0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MCPay 解决完整商业闭环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745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745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745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745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745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745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745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745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745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745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745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03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803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803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803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803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803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803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803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803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803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803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803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803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03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832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832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832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832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832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832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832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832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832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862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862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862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862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862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862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862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862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862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862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8862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8862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8862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8862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891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891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891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891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891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891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3891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891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8920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920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8920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920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8920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920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920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920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920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920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920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920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920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920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3949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949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949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949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949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949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3949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3949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3949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949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3949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949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3949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3949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8978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978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978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8978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978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8978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978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8978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8978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8978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978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978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978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8978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008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008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008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008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008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008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008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008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008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008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008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008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4008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008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037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037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037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037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037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9037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037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037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037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037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9037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9037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037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037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066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066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066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4066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066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066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4066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4066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066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066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066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066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66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66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9095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9095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9095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9095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9095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9095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95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95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95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95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95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95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95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95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4124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4124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4124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4124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124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124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4124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4124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4124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4124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4124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4124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4124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4124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154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154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154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9154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9154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9154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154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9154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9154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9154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9154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9154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9154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9154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4183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4183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4183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4183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183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4183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4183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4183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4183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4183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4183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4183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4183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4183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99212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9212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9212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9212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9212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9212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9212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9212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9212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212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9212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9212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99212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9212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4241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04241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4241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4241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4241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04241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4241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4241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04241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4241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4241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4241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4241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4241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9270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9270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9270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09270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9270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9270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9270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9270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9270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9270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9270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9270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9270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9270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4300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14300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14300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14300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14300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14300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14300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14300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4300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14300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14300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14300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14300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14300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9329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9329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9329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9329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9329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9329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9329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9329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9329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9329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9329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9329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19329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9329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235440" y="-1463040"/>
            <a:ext cx="4114800" cy="4114800"/>
          </a:xfrm>
          <a:prstGeom prst="ellipse">
            <a:avLst/>
          </a:prstGeom>
          <a:solidFill>
            <a:srgbClr val="123859">
              <a:alpha val="38000"/>
            </a:srgbClr>
          </a:solidFill>
          <a:ln w="12700">
            <a:solidFill>
              <a:srgbClr val="143B60">
                <a:alpha val="75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-1554480" y="5074920"/>
            <a:ext cx="3931920" cy="3931920"/>
          </a:xfrm>
          <a:prstGeom prst="ellipse">
            <a:avLst/>
          </a:prstGeom>
          <a:solidFill>
            <a:srgbClr val="172A50">
              <a:alpha val="40000"/>
            </a:srgbClr>
          </a:solidFill>
          <a:ln w="12700">
            <a:solidFill>
              <a:srgbClr val="182A54">
                <a:alpha val="65000"/>
              </a:srgbClr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502920" y="384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EXPERIENCE</a:t>
            </a:r>
            <a:endParaRPr lang="en-US" sz="850" dirty="0"/>
          </a:p>
        </p:txBody>
      </p:sp>
      <p:sp>
        <p:nvSpPr>
          <p:cNvPr id="341" name="Text 339"/>
          <p:cNvSpPr/>
          <p:nvPr/>
        </p:nvSpPr>
        <p:spPr>
          <a:xfrm>
            <a:off x="502920" y="66751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8FF"/>
                </a:solidFill>
              </a:rPr>
              <a:t>用户只交代目标与预算</a:t>
            </a:r>
            <a:endParaRPr lang="en-US" sz="2500" dirty="0"/>
          </a:p>
        </p:txBody>
      </p:sp>
      <p:sp>
        <p:nvSpPr>
          <p:cNvPr id="342" name="Text 340"/>
          <p:cNvSpPr/>
          <p:nvPr/>
        </p:nvSpPr>
        <p:spPr>
          <a:xfrm>
            <a:off x="521208" y="12801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8C8E5"/>
                </a:solidFill>
              </a:rPr>
              <a:t>预算不是提示信息，而是 Agent 可执行的授权边界。</a:t>
            </a:r>
            <a:endParaRPr lang="en-US" sz="1100" dirty="0"/>
          </a:p>
        </p:txBody>
      </p:sp>
      <p:sp>
        <p:nvSpPr>
          <p:cNvPr id="343" name="Text 341"/>
          <p:cNvSpPr/>
          <p:nvPr/>
        </p:nvSpPr>
        <p:spPr>
          <a:xfrm>
            <a:off x="502920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719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MCPay · Agent Commerce on Monad</a:t>
            </a:r>
            <a:endParaRPr lang="en-US" sz="750" dirty="0"/>
          </a:p>
        </p:txBody>
      </p:sp>
      <p:sp>
        <p:nvSpPr>
          <p:cNvPr id="344" name="Text 342"/>
          <p:cNvSpPr/>
          <p:nvPr/>
        </p:nvSpPr>
        <p:spPr>
          <a:xfrm>
            <a:off x="1120140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9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45" name="Shape 343"/>
          <p:cNvSpPr/>
          <p:nvPr/>
        </p:nvSpPr>
        <p:spPr>
          <a:xfrm>
            <a:off x="640080" y="1920240"/>
            <a:ext cx="4572000" cy="3639312"/>
          </a:xfrm>
          <a:prstGeom prst="roundRect">
            <a:avLst>
              <a:gd name="adj" fmla="val 2010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932688" y="224028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45E6F5">
              <a:alpha val="18000"/>
            </a:srgbClr>
          </a:solidFill>
          <a:ln w="7620">
            <a:solidFill>
              <a:srgbClr val="45E6F5">
                <a:alpha val="60000"/>
              </a:srgbClr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932688" y="229057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INPUT</a:t>
            </a:r>
            <a:endParaRPr lang="en-US" sz="750" dirty="0"/>
          </a:p>
        </p:txBody>
      </p:sp>
      <p:sp>
        <p:nvSpPr>
          <p:cNvPr id="348" name="Text 346"/>
          <p:cNvSpPr/>
          <p:nvPr/>
        </p:nvSpPr>
        <p:spPr>
          <a:xfrm>
            <a:off x="950976" y="2697480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the Monad ecosystem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identify five promising projects.</a:t>
            </a:r>
            <a:endParaRPr lang="en-US" sz="1450" dirty="0"/>
          </a:p>
        </p:txBody>
      </p:sp>
      <p:sp>
        <p:nvSpPr>
          <p:cNvPr id="349" name="Text 347"/>
          <p:cNvSpPr/>
          <p:nvPr/>
        </p:nvSpPr>
        <p:spPr>
          <a:xfrm>
            <a:off x="950976" y="36576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19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</a:t>
            </a:r>
            <a:endParaRPr lang="en-US" sz="850" dirty="0"/>
          </a:p>
        </p:txBody>
      </p:sp>
      <p:sp>
        <p:nvSpPr>
          <p:cNvPr id="350" name="Shape 348"/>
          <p:cNvSpPr/>
          <p:nvPr/>
        </p:nvSpPr>
        <p:spPr>
          <a:xfrm>
            <a:off x="950976" y="397764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172C49"/>
          </a:solidFill>
          <a:ln w="8890">
            <a:solidFill>
              <a:srgbClr val="748CFF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>
            <a:off x="1161288" y="41422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C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 MON</a:t>
            </a:r>
            <a:endParaRPr lang="en-US" sz="1350" dirty="0"/>
          </a:p>
        </p:txBody>
      </p:sp>
      <p:sp>
        <p:nvSpPr>
          <p:cNvPr id="352" name="Shape 350"/>
          <p:cNvSpPr/>
          <p:nvPr/>
        </p:nvSpPr>
        <p:spPr>
          <a:xfrm>
            <a:off x="950976" y="4782312"/>
            <a:ext cx="1444752" cy="475488"/>
          </a:xfrm>
          <a:prstGeom prst="roundRect">
            <a:avLst>
              <a:gd name="adj" fmla="val 15385"/>
            </a:avLst>
          </a:prstGeom>
          <a:solidFill>
            <a:srgbClr val="45E6F5"/>
          </a:solidFill>
          <a:ln w="12700">
            <a:solidFill>
              <a:srgbClr val="45E6F5"/>
            </a:solidFill>
            <a:prstDash val="solid"/>
          </a:ln>
        </p:spPr>
      </p:sp>
      <p:sp>
        <p:nvSpPr>
          <p:cNvPr id="353" name="Text 351"/>
          <p:cNvSpPr/>
          <p:nvPr/>
        </p:nvSpPr>
        <p:spPr>
          <a:xfrm>
            <a:off x="969264" y="48920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Agent</a:t>
            </a:r>
            <a:endParaRPr lang="en-US" sz="1050" dirty="0"/>
          </a:p>
        </p:txBody>
      </p:sp>
      <p:sp>
        <p:nvSpPr>
          <p:cNvPr id="354" name="Shape 352"/>
          <p:cNvSpPr/>
          <p:nvPr/>
        </p:nvSpPr>
        <p:spPr>
          <a:xfrm>
            <a:off x="5440680" y="2596896"/>
            <a:ext cx="960120" cy="0"/>
          </a:xfrm>
          <a:prstGeom prst="line">
            <a:avLst/>
          </a:prstGeom>
          <a:noFill/>
          <a:ln w="13970">
            <a:solidFill>
              <a:srgbClr val="45E6F5"/>
            </a:solidFill>
            <a:prstDash val="solid"/>
            <a:tailEnd type="triangle"/>
          </a:ln>
        </p:spPr>
      </p:sp>
      <p:sp>
        <p:nvSpPr>
          <p:cNvPr id="355" name="Shape 353"/>
          <p:cNvSpPr/>
          <p:nvPr/>
        </p:nvSpPr>
        <p:spPr>
          <a:xfrm>
            <a:off x="6583680" y="1993392"/>
            <a:ext cx="2377440" cy="1207008"/>
          </a:xfrm>
          <a:prstGeom prst="roundRect">
            <a:avLst>
              <a:gd name="adj" fmla="val 6061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766560" y="2194560"/>
            <a:ext cx="347472" cy="347472"/>
          </a:xfrm>
          <a:prstGeom prst="ellipse">
            <a:avLst/>
          </a:prstGeom>
          <a:solidFill>
            <a:srgbClr val="45E6F5"/>
          </a:solidFill>
          <a:ln w="12700">
            <a:solidFill>
              <a:srgbClr val="45E6F5"/>
            </a:solidFill>
            <a:prstDash val="solid"/>
          </a:ln>
        </p:spPr>
      </p:sp>
      <p:sp>
        <p:nvSpPr>
          <p:cNvPr id="357" name="Text 355"/>
          <p:cNvSpPr/>
          <p:nvPr/>
        </p:nvSpPr>
        <p:spPr>
          <a:xfrm>
            <a:off x="7223760" y="21579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语义规划</a:t>
            </a:r>
            <a:endParaRPr lang="en-US" sz="1050" dirty="0"/>
          </a:p>
        </p:txBody>
      </p:sp>
      <p:sp>
        <p:nvSpPr>
          <p:cNvPr id="358" name="Text 356"/>
          <p:cNvSpPr/>
          <p:nvPr/>
        </p:nvSpPr>
        <p:spPr>
          <a:xfrm>
            <a:off x="6766560" y="25968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只解释：为什么需要 web-research</a:t>
            </a:r>
            <a:endParaRPr lang="en-US" sz="820" dirty="0"/>
          </a:p>
        </p:txBody>
      </p:sp>
      <p:sp>
        <p:nvSpPr>
          <p:cNvPr id="359" name="Shape 357"/>
          <p:cNvSpPr/>
          <p:nvPr/>
        </p:nvSpPr>
        <p:spPr>
          <a:xfrm>
            <a:off x="9189720" y="1993392"/>
            <a:ext cx="2377440" cy="1207008"/>
          </a:xfrm>
          <a:prstGeom prst="roundRect">
            <a:avLst>
              <a:gd name="adj" fmla="val 6061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9372600" y="2194560"/>
            <a:ext cx="347472" cy="347472"/>
          </a:xfrm>
          <a:prstGeom prst="ellipse">
            <a:avLst/>
          </a:prstGeom>
          <a:solidFill>
            <a:srgbClr val="748CFF"/>
          </a:solidFill>
          <a:ln w="12700">
            <a:solidFill>
              <a:srgbClr val="748CFF"/>
            </a:solidFill>
            <a:prstDash val="solid"/>
          </a:ln>
        </p:spPr>
      </p:sp>
      <p:sp>
        <p:nvSpPr>
          <p:cNvPr id="361" name="Text 359"/>
          <p:cNvSpPr/>
          <p:nvPr/>
        </p:nvSpPr>
        <p:spPr>
          <a:xfrm>
            <a:off x="9829800" y="21579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确定性选择</a:t>
            </a:r>
            <a:endParaRPr lang="en-US" sz="1050" dirty="0"/>
          </a:p>
        </p:txBody>
      </p:sp>
      <p:sp>
        <p:nvSpPr>
          <p:cNvPr id="362" name="Text 360"/>
          <p:cNvSpPr/>
          <p:nvPr/>
        </p:nvSpPr>
        <p:spPr>
          <a:xfrm>
            <a:off x="9372600" y="25968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声誉 50% · 质量 30%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价格 15% · 延迟 5%</a:t>
            </a:r>
            <a:endParaRPr lang="en-US" sz="820" dirty="0"/>
          </a:p>
        </p:txBody>
      </p:sp>
      <p:sp>
        <p:nvSpPr>
          <p:cNvPr id="363" name="Shape 361"/>
          <p:cNvSpPr/>
          <p:nvPr/>
        </p:nvSpPr>
        <p:spPr>
          <a:xfrm>
            <a:off x="6583680" y="3977640"/>
            <a:ext cx="2377440" cy="1207008"/>
          </a:xfrm>
          <a:prstGeom prst="roundRect">
            <a:avLst>
              <a:gd name="adj" fmla="val 6061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6766560" y="4178808"/>
            <a:ext cx="347472" cy="347472"/>
          </a:xfrm>
          <a:prstGeom prst="ellipse">
            <a:avLst/>
          </a:prstGeom>
          <a:solidFill>
            <a:srgbClr val="FFC76A"/>
          </a:solidFill>
          <a:ln w="12700">
            <a:solidFill>
              <a:srgbClr val="FFC76A"/>
            </a:solidFill>
            <a:prstDash val="solid"/>
          </a:ln>
        </p:spPr>
      </p:sp>
      <p:sp>
        <p:nvSpPr>
          <p:cNvPr id="365" name="Text 363"/>
          <p:cNvSpPr/>
          <p:nvPr/>
        </p:nvSpPr>
        <p:spPr>
          <a:xfrm>
            <a:off x="7223760" y="41422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预算校验</a:t>
            </a:r>
            <a:endParaRPr lang="en-US" sz="1050" dirty="0"/>
          </a:p>
        </p:txBody>
      </p:sp>
      <p:sp>
        <p:nvSpPr>
          <p:cNvPr id="366" name="Text 364"/>
          <p:cNvSpPr/>
          <p:nvPr/>
        </p:nvSpPr>
        <p:spPr>
          <a:xfrm>
            <a:off x="6766560" y="458114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超出预算：不发起支付</a:t>
            </a:r>
            <a:endParaRPr lang="en-US" sz="820" dirty="0"/>
          </a:p>
        </p:txBody>
      </p:sp>
      <p:sp>
        <p:nvSpPr>
          <p:cNvPr id="367" name="Shape 365"/>
          <p:cNvSpPr/>
          <p:nvPr/>
        </p:nvSpPr>
        <p:spPr>
          <a:xfrm>
            <a:off x="9189720" y="3977640"/>
            <a:ext cx="2377440" cy="1207008"/>
          </a:xfrm>
          <a:prstGeom prst="roundRect">
            <a:avLst>
              <a:gd name="adj" fmla="val 6061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9372600" y="4178808"/>
            <a:ext cx="347472" cy="347472"/>
          </a:xfrm>
          <a:prstGeom prst="ellipse">
            <a:avLst/>
          </a:prstGeom>
          <a:solidFill>
            <a:srgbClr val="71E6B2"/>
          </a:solidFill>
          <a:ln w="12700">
            <a:solidFill>
              <a:srgbClr val="71E6B2"/>
            </a:solidFill>
            <a:prstDash val="solid"/>
          </a:ln>
        </p:spPr>
      </p:sp>
      <p:sp>
        <p:nvSpPr>
          <p:cNvPr id="369" name="Text 367"/>
          <p:cNvSpPr/>
          <p:nvPr/>
        </p:nvSpPr>
        <p:spPr>
          <a:xfrm>
            <a:off x="9829800" y="41422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执行授权</a:t>
            </a:r>
            <a:endParaRPr lang="en-US" sz="1050" dirty="0"/>
          </a:p>
        </p:txBody>
      </p:sp>
      <p:sp>
        <p:nvSpPr>
          <p:cNvPr id="370" name="Text 368"/>
          <p:cNvSpPr/>
          <p:nvPr/>
        </p:nvSpPr>
        <p:spPr>
          <a:xfrm>
            <a:off x="9372600" y="458114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仅为选定 Offer 与精确金额付款</a:t>
            </a:r>
            <a:endParaRPr lang="en-US" sz="820" dirty="0"/>
          </a:p>
        </p:txBody>
      </p:sp>
      <p:sp>
        <p:nvSpPr>
          <p:cNvPr id="371" name="Shape 369"/>
          <p:cNvSpPr/>
          <p:nvPr/>
        </p:nvSpPr>
        <p:spPr>
          <a:xfrm>
            <a:off x="7772400" y="3310128"/>
            <a:ext cx="0" cy="566928"/>
          </a:xfrm>
          <a:prstGeom prst="line">
            <a:avLst/>
          </a:prstGeom>
          <a:noFill/>
          <a:ln w="13970">
            <a:solidFill>
              <a:srgbClr val="7190B8"/>
            </a:solidFill>
            <a:prstDash val="solid"/>
            <a:tailEnd type="triangle"/>
          </a:ln>
        </p:spPr>
      </p:sp>
      <p:sp>
        <p:nvSpPr>
          <p:cNvPr id="372" name="Shape 370"/>
          <p:cNvSpPr/>
          <p:nvPr/>
        </p:nvSpPr>
        <p:spPr>
          <a:xfrm>
            <a:off x="9006840" y="2596896"/>
            <a:ext cx="137160" cy="0"/>
          </a:xfrm>
          <a:prstGeom prst="line">
            <a:avLst/>
          </a:prstGeom>
          <a:noFill/>
          <a:ln w="13970">
            <a:solidFill>
              <a:srgbClr val="7190B8"/>
            </a:solidFill>
            <a:prstDash val="solid"/>
            <a:tailEnd type="triangle"/>
          </a:ln>
        </p:spPr>
      </p:sp>
      <p:sp>
        <p:nvSpPr>
          <p:cNvPr id="373" name="Shape 371"/>
          <p:cNvSpPr/>
          <p:nvPr/>
        </p:nvSpPr>
        <p:spPr>
          <a:xfrm>
            <a:off x="10378440" y="3310128"/>
            <a:ext cx="0" cy="566928"/>
          </a:xfrm>
          <a:prstGeom prst="line">
            <a:avLst/>
          </a:prstGeom>
          <a:noFill/>
          <a:ln w="13970">
            <a:solidFill>
              <a:srgbClr val="7190B8"/>
            </a:solidFill>
            <a:prstDash val="solid"/>
            <a:tailEnd type="triangle"/>
          </a:ln>
        </p:spPr>
      </p:sp>
      <p:sp>
        <p:nvSpPr>
          <p:cNvPr id="374" name="Shape 372"/>
          <p:cNvSpPr/>
          <p:nvPr/>
        </p:nvSpPr>
        <p:spPr>
          <a:xfrm>
            <a:off x="9006840" y="4581144"/>
            <a:ext cx="137160" cy="0"/>
          </a:xfrm>
          <a:prstGeom prst="line">
            <a:avLst/>
          </a:prstGeom>
          <a:noFill/>
          <a:ln w="13970">
            <a:solidFill>
              <a:srgbClr val="7190B8"/>
            </a:solidFill>
            <a:prstDash val="solid"/>
            <a:tailEnd type="triangle"/>
          </a:ln>
        </p:spPr>
      </p:sp>
      <p:sp>
        <p:nvSpPr>
          <p:cNvPr id="375" name="Text 373"/>
          <p:cNvSpPr/>
          <p:nvPr/>
        </p:nvSpPr>
        <p:spPr>
          <a:xfrm>
            <a:off x="6601968" y="5669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把语义判断交给模型，把经济决策留给可测试规则。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745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745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745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745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745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745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745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745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745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745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745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03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803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803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803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803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803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803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803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803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803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803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803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803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03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832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832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832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832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832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832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832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832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832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862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862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862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862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862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862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862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862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862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862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8862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8862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8862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8862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891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891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891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891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891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891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3891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891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8920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920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8920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920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8920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920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920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920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920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920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920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920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920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920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3949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949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949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949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949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949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3949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3949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3949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949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3949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949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3949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3949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8978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978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978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8978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978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8978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978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8978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8978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8978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978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978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978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8978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008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008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008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008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008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008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008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008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008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008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008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008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4008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008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037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037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037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037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037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9037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037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037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037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037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9037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9037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037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037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066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066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066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4066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066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066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4066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4066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066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066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066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066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66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66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9095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9095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9095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9095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9095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9095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95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95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95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95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95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95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95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95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4124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4124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4124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4124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124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124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4124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4124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4124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4124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4124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4124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4124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4124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154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154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154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9154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9154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9154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154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9154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9154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9154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9154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9154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9154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9154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4183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4183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4183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4183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183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4183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4183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4183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4183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4183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4183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4183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4183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4183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99212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9212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9212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9212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9212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9212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9212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9212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9212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212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9212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9212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99212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9212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4241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04241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4241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4241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4241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04241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4241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4241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04241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4241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4241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4241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4241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4241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9270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9270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9270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09270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9270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9270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9270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9270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9270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9270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9270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9270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9270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9270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4300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14300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14300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14300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14300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14300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14300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14300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4300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14300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14300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14300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14300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14300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9329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9329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9329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9329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9329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9329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9329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9329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9329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9329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9329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9329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19329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9329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235440" y="-1463040"/>
            <a:ext cx="4114800" cy="4114800"/>
          </a:xfrm>
          <a:prstGeom prst="ellipse">
            <a:avLst/>
          </a:prstGeom>
          <a:solidFill>
            <a:srgbClr val="E6F3FF">
              <a:alpha val="45000"/>
            </a:srgbClr>
          </a:solidFill>
          <a:ln w="12700">
            <a:solidFill>
              <a:srgbClr val="D4E9FF">
                <a:alpha val="75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-1554480" y="5074920"/>
            <a:ext cx="3931920" cy="3931920"/>
          </a:xfrm>
          <a:prstGeom prst="ellipse">
            <a:avLst/>
          </a:prstGeom>
          <a:solidFill>
            <a:srgbClr val="E9F1FF">
              <a:alpha val="40000"/>
            </a:srgbClr>
          </a:solidFill>
          <a:ln w="12700">
            <a:solidFill>
              <a:srgbClr val="E5EDFF">
                <a:alpha val="65000"/>
              </a:srgbClr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502920" y="384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EXECUTION FLOW</a:t>
            </a:r>
            <a:endParaRPr lang="en-US" sz="850" dirty="0"/>
          </a:p>
        </p:txBody>
      </p:sp>
      <p:sp>
        <p:nvSpPr>
          <p:cNvPr id="341" name="Text 339"/>
          <p:cNvSpPr/>
          <p:nvPr/>
        </p:nvSpPr>
        <p:spPr>
          <a:xfrm>
            <a:off x="502920" y="66751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13A"/>
                </a:solidFill>
              </a:rPr>
              <a:t>402 不是错误，而是付款协议</a:t>
            </a:r>
            <a:endParaRPr lang="en-US" sz="2500" dirty="0"/>
          </a:p>
        </p:txBody>
      </p:sp>
      <p:sp>
        <p:nvSpPr>
          <p:cNvPr id="342" name="Text 340"/>
          <p:cNvSpPr/>
          <p:nvPr/>
        </p:nvSpPr>
        <p:spPr>
          <a:xfrm>
            <a:off x="521208" y="12801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7797"/>
                </a:solidFill>
              </a:rPr>
              <a:t>Provider 给出精确条款；Agent 先校验、再付款、最后带着证明重试。</a:t>
            </a:r>
            <a:endParaRPr lang="en-US" sz="1100" dirty="0"/>
          </a:p>
        </p:txBody>
      </p:sp>
      <p:sp>
        <p:nvSpPr>
          <p:cNvPr id="343" name="Text 341"/>
          <p:cNvSpPr/>
          <p:nvPr/>
        </p:nvSpPr>
        <p:spPr>
          <a:xfrm>
            <a:off x="502920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MCPay · Agent Commerce on Monad</a:t>
            </a:r>
            <a:endParaRPr lang="en-US" sz="750" dirty="0"/>
          </a:p>
        </p:txBody>
      </p:sp>
      <p:sp>
        <p:nvSpPr>
          <p:cNvPr id="344" name="Text 342"/>
          <p:cNvSpPr/>
          <p:nvPr/>
        </p:nvSpPr>
        <p:spPr>
          <a:xfrm>
            <a:off x="1120140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45" name="Shape 343"/>
          <p:cNvSpPr/>
          <p:nvPr/>
        </p:nvSpPr>
        <p:spPr>
          <a:xfrm>
            <a:off x="612648" y="21488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D5E2F2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45E6F5"/>
          </a:solidFill>
          <a:ln w="12700">
            <a:solidFill>
              <a:srgbClr val="45E6F5"/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841248" y="255117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348" name="Text 346"/>
          <p:cNvSpPr/>
          <p:nvPr/>
        </p:nvSpPr>
        <p:spPr>
          <a:xfrm>
            <a:off x="841248" y="3172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请求执行</a:t>
            </a:r>
            <a:endParaRPr lang="en-US" sz="1350" dirty="0"/>
          </a:p>
        </p:txBody>
      </p:sp>
      <p:sp>
        <p:nvSpPr>
          <p:cNvPr id="349" name="Text 347"/>
          <p:cNvSpPr/>
          <p:nvPr/>
        </p:nvSpPr>
        <p:spPr>
          <a:xfrm>
            <a:off x="841248" y="36118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/execute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无支付证明</a:t>
            </a:r>
            <a:endParaRPr lang="en-US" sz="920" dirty="0"/>
          </a:p>
        </p:txBody>
      </p:sp>
      <p:sp>
        <p:nvSpPr>
          <p:cNvPr id="350" name="Shape 348"/>
          <p:cNvSpPr/>
          <p:nvPr/>
        </p:nvSpPr>
        <p:spPr>
          <a:xfrm>
            <a:off x="3008376" y="3310128"/>
            <a:ext cx="347472" cy="0"/>
          </a:xfrm>
          <a:prstGeom prst="line">
            <a:avLst/>
          </a:prstGeom>
          <a:noFill/>
          <a:ln w="13970">
            <a:solidFill>
              <a:srgbClr val="5F7797"/>
            </a:solidFill>
            <a:prstDash val="solid"/>
            <a:tailEnd type="triangle"/>
          </a:ln>
        </p:spPr>
      </p:sp>
      <p:sp>
        <p:nvSpPr>
          <p:cNvPr id="351" name="Shape 349"/>
          <p:cNvSpPr/>
          <p:nvPr/>
        </p:nvSpPr>
        <p:spPr>
          <a:xfrm>
            <a:off x="3493008" y="21488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D5E2F2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3721608" y="2395728"/>
            <a:ext cx="502920" cy="502920"/>
          </a:xfrm>
          <a:prstGeom prst="ellipse">
            <a:avLst/>
          </a:prstGeom>
          <a:solidFill>
            <a:srgbClr val="FFC76A"/>
          </a:solidFill>
          <a:ln w="12700">
            <a:solidFill>
              <a:srgbClr val="FFC76A"/>
            </a:solidFill>
            <a:prstDash val="solid"/>
          </a:ln>
        </p:spPr>
      </p:sp>
      <p:sp>
        <p:nvSpPr>
          <p:cNvPr id="353" name="Text 351"/>
          <p:cNvSpPr/>
          <p:nvPr/>
        </p:nvSpPr>
        <p:spPr>
          <a:xfrm>
            <a:off x="3721608" y="255117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354" name="Text 352"/>
          <p:cNvSpPr/>
          <p:nvPr/>
        </p:nvSpPr>
        <p:spPr>
          <a:xfrm>
            <a:off x="3721608" y="3172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 402</a:t>
            </a:r>
            <a:endParaRPr lang="en-US" sz="1350" dirty="0"/>
          </a:p>
        </p:txBody>
      </p:sp>
      <p:sp>
        <p:nvSpPr>
          <p:cNvPr id="355" name="Text 353"/>
          <p:cNvSpPr/>
          <p:nvPr/>
        </p:nvSpPr>
        <p:spPr>
          <a:xfrm>
            <a:off x="3721608" y="36118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 · recipient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network: monad</a:t>
            </a:r>
            <a:endParaRPr lang="en-US" sz="920" dirty="0"/>
          </a:p>
        </p:txBody>
      </p:sp>
      <p:sp>
        <p:nvSpPr>
          <p:cNvPr id="356" name="Shape 354"/>
          <p:cNvSpPr/>
          <p:nvPr/>
        </p:nvSpPr>
        <p:spPr>
          <a:xfrm>
            <a:off x="5888736" y="3310128"/>
            <a:ext cx="347472" cy="0"/>
          </a:xfrm>
          <a:prstGeom prst="line">
            <a:avLst/>
          </a:prstGeom>
          <a:noFill/>
          <a:ln w="13970">
            <a:solidFill>
              <a:srgbClr val="5F7797"/>
            </a:solidFill>
            <a:prstDash val="solid"/>
            <a:tailEnd type="triangle"/>
          </a:ln>
        </p:spPr>
      </p:sp>
      <p:sp>
        <p:nvSpPr>
          <p:cNvPr id="357" name="Shape 355"/>
          <p:cNvSpPr/>
          <p:nvPr/>
        </p:nvSpPr>
        <p:spPr>
          <a:xfrm>
            <a:off x="6373368" y="21488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D5E2F2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6601968" y="2395728"/>
            <a:ext cx="502920" cy="502920"/>
          </a:xfrm>
          <a:prstGeom prst="ellipse">
            <a:avLst/>
          </a:prstGeom>
          <a:solidFill>
            <a:srgbClr val="748CFF"/>
          </a:solidFill>
          <a:ln w="12700">
            <a:solidFill>
              <a:srgbClr val="748CFF"/>
            </a:solidFill>
            <a:prstDash val="solid"/>
          </a:ln>
        </p:spPr>
      </p:sp>
      <p:sp>
        <p:nvSpPr>
          <p:cNvPr id="359" name="Text 357"/>
          <p:cNvSpPr/>
          <p:nvPr/>
        </p:nvSpPr>
        <p:spPr>
          <a:xfrm>
            <a:off x="6601968" y="255117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60" name="Text 358"/>
          <p:cNvSpPr/>
          <p:nvPr/>
        </p:nvSpPr>
        <p:spPr>
          <a:xfrm>
            <a:off x="6601968" y="3172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Monad 转账</a:t>
            </a:r>
            <a:endParaRPr lang="en-US" sz="1350" dirty="0"/>
          </a:p>
        </p:txBody>
      </p:sp>
      <p:sp>
        <p:nvSpPr>
          <p:cNvPr id="361" name="Text 359"/>
          <p:cNvSpPr/>
          <p:nvPr/>
        </p:nvSpPr>
        <p:spPr>
          <a:xfrm>
            <a:off x="6601968" y="36118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精确金额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得到交易哈希</a:t>
            </a:r>
            <a:endParaRPr lang="en-US" sz="920" dirty="0"/>
          </a:p>
        </p:txBody>
      </p:sp>
      <p:sp>
        <p:nvSpPr>
          <p:cNvPr id="362" name="Shape 360"/>
          <p:cNvSpPr/>
          <p:nvPr/>
        </p:nvSpPr>
        <p:spPr>
          <a:xfrm>
            <a:off x="8769096" y="3310128"/>
            <a:ext cx="347472" cy="0"/>
          </a:xfrm>
          <a:prstGeom prst="line">
            <a:avLst/>
          </a:prstGeom>
          <a:noFill/>
          <a:ln w="13970">
            <a:solidFill>
              <a:srgbClr val="5F7797"/>
            </a:solidFill>
            <a:prstDash val="solid"/>
            <a:tailEnd type="triangle"/>
          </a:ln>
        </p:spPr>
      </p:sp>
      <p:sp>
        <p:nvSpPr>
          <p:cNvPr id="363" name="Shape 361"/>
          <p:cNvSpPr/>
          <p:nvPr/>
        </p:nvSpPr>
        <p:spPr>
          <a:xfrm>
            <a:off x="9253728" y="21488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D5E2F2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9482328" y="2395728"/>
            <a:ext cx="502920" cy="502920"/>
          </a:xfrm>
          <a:prstGeom prst="ellipse">
            <a:avLst/>
          </a:prstGeom>
          <a:solidFill>
            <a:srgbClr val="71E6B2"/>
          </a:solidFill>
          <a:ln w="12700">
            <a:solidFill>
              <a:srgbClr val="71E6B2"/>
            </a:solidFill>
            <a:prstDash val="solid"/>
          </a:ln>
        </p:spPr>
      </p:sp>
      <p:sp>
        <p:nvSpPr>
          <p:cNvPr id="365" name="Text 363"/>
          <p:cNvSpPr/>
          <p:nvPr/>
        </p:nvSpPr>
        <p:spPr>
          <a:xfrm>
            <a:off x="9482328" y="255117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66" name="Text 364"/>
          <p:cNvSpPr/>
          <p:nvPr/>
        </p:nvSpPr>
        <p:spPr>
          <a:xfrm>
            <a:off x="9482328" y="3172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携带证明重试</a:t>
            </a:r>
            <a:endParaRPr lang="en-US" sz="1350" dirty="0"/>
          </a:p>
        </p:txBody>
      </p:sp>
      <p:sp>
        <p:nvSpPr>
          <p:cNvPr id="367" name="Text 365"/>
          <p:cNvSpPr/>
          <p:nvPr/>
        </p:nvSpPr>
        <p:spPr>
          <a:xfrm>
            <a:off x="9482328" y="36118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x-payment-tx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执行已付款服务</a:t>
            </a:r>
            <a:endParaRPr lang="en-US" sz="920" dirty="0"/>
          </a:p>
        </p:txBody>
      </p:sp>
      <p:sp>
        <p:nvSpPr>
          <p:cNvPr id="368" name="Shape 366"/>
          <p:cNvSpPr/>
          <p:nvPr/>
        </p:nvSpPr>
        <p:spPr>
          <a:xfrm>
            <a:off x="960120" y="5138928"/>
            <a:ext cx="10241280" cy="603504"/>
          </a:xfrm>
          <a:prstGeom prst="roundRect">
            <a:avLst>
              <a:gd name="adj" fmla="val 12121"/>
            </a:avLst>
          </a:prstGeom>
          <a:solidFill>
            <a:srgbClr val="EAF8FD"/>
          </a:solidFill>
          <a:ln w="8890">
            <a:solidFill>
              <a:srgbClr val="B4EAF3"/>
            </a:solidFill>
            <a:prstDash val="solid"/>
          </a:ln>
        </p:spPr>
      </p:sp>
      <p:sp>
        <p:nvSpPr>
          <p:cNvPr id="369" name="Text 367"/>
          <p:cNvSpPr/>
          <p:nvPr/>
        </p:nvSpPr>
        <p:spPr>
          <a:xfrm>
            <a:off x="1252728" y="5349240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守住两道门：支付条款必须与选中 Offer 一致；金额必须不超过用户预算。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745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745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745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745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745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745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745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745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745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745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745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03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803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803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803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803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803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803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803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803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803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803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803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803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03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832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832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832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832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832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832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832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832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832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862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862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862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862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862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862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862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862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862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862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8862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8862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8862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8862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891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891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891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891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891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891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3891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891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8920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920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8920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920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8920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920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920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920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920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920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920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920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920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920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3949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949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949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949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949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949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3949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3949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3949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949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3949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949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3949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3949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8978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978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978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8978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978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8978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978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8978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8978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8978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978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978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978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8978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008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008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008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008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008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008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008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008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008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008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008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008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4008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008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037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037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037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037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037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9037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037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037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037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037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9037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9037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037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037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066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066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066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4066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066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066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4066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4066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066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066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066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066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66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66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9095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9095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9095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9095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9095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9095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95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95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95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95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95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95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95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95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4124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4124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4124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4124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124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124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4124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4124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4124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4124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4124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4124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4124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4124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154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154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154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9154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9154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9154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154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9154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9154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9154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9154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9154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9154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9154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4183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4183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4183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4183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183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4183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4183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4183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4183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4183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4183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4183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4183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4183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99212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9212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9212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9212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9212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9212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9212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9212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9212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212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9212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9212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99212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9212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4241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04241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4241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4241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4241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04241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4241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4241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04241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4241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4241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4241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4241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4241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9270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9270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9270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09270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9270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9270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9270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9270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9270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9270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9270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9270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9270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9270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4300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14300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14300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14300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14300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14300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14300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14300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4300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14300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14300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14300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14300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14300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9329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9329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9329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9329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9329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9329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9329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9329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9329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9329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9329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9329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19329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9329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235440" y="-1463040"/>
            <a:ext cx="4114800" cy="4114800"/>
          </a:xfrm>
          <a:prstGeom prst="ellipse">
            <a:avLst/>
          </a:prstGeom>
          <a:solidFill>
            <a:srgbClr val="123859">
              <a:alpha val="38000"/>
            </a:srgbClr>
          </a:solidFill>
          <a:ln w="12700">
            <a:solidFill>
              <a:srgbClr val="143B60">
                <a:alpha val="75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-1554480" y="5074920"/>
            <a:ext cx="3931920" cy="3931920"/>
          </a:xfrm>
          <a:prstGeom prst="ellipse">
            <a:avLst/>
          </a:prstGeom>
          <a:solidFill>
            <a:srgbClr val="172A50">
              <a:alpha val="40000"/>
            </a:srgbClr>
          </a:solidFill>
          <a:ln w="12700">
            <a:solidFill>
              <a:srgbClr val="182A54">
                <a:alpha val="65000"/>
              </a:srgbClr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502920" y="384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ARCHITECTURE</a:t>
            </a:r>
            <a:endParaRPr lang="en-US" sz="850" dirty="0"/>
          </a:p>
        </p:txBody>
      </p:sp>
      <p:sp>
        <p:nvSpPr>
          <p:cNvPr id="341" name="Text 339"/>
          <p:cNvSpPr/>
          <p:nvPr/>
        </p:nvSpPr>
        <p:spPr>
          <a:xfrm>
            <a:off x="502920" y="66751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8FF"/>
                </a:solidFill>
              </a:rPr>
              <a:t>双 Worker 分工，让支付与执行可验证</a:t>
            </a:r>
            <a:endParaRPr lang="en-US" sz="2500" dirty="0"/>
          </a:p>
        </p:txBody>
      </p:sp>
      <p:sp>
        <p:nvSpPr>
          <p:cNvPr id="342" name="Text 340"/>
          <p:cNvSpPr/>
          <p:nvPr/>
        </p:nvSpPr>
        <p:spPr>
          <a:xfrm>
            <a:off x="521208" y="12801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8C8E5"/>
                </a:solidFill>
              </a:rPr>
              <a:t>主 Worker 专注编排；Research Provider 独立验证支付、消费证明并完成研究。</a:t>
            </a:r>
            <a:endParaRPr lang="en-US" sz="1100" dirty="0"/>
          </a:p>
        </p:txBody>
      </p:sp>
      <p:sp>
        <p:nvSpPr>
          <p:cNvPr id="343" name="Text 341"/>
          <p:cNvSpPr/>
          <p:nvPr/>
        </p:nvSpPr>
        <p:spPr>
          <a:xfrm>
            <a:off x="502920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719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MCPay · Agent Commerce on Monad</a:t>
            </a:r>
            <a:endParaRPr lang="en-US" sz="750" dirty="0"/>
          </a:p>
        </p:txBody>
      </p:sp>
      <p:sp>
        <p:nvSpPr>
          <p:cNvPr id="344" name="Text 342"/>
          <p:cNvSpPr/>
          <p:nvPr/>
        </p:nvSpPr>
        <p:spPr>
          <a:xfrm>
            <a:off x="1120140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9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45" name="Shape 343"/>
          <p:cNvSpPr/>
          <p:nvPr/>
        </p:nvSpPr>
        <p:spPr>
          <a:xfrm>
            <a:off x="502920" y="214884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85800" y="2350008"/>
            <a:ext cx="347472" cy="347472"/>
          </a:xfrm>
          <a:prstGeom prst="ellipse">
            <a:avLst/>
          </a:prstGeom>
          <a:solidFill>
            <a:srgbClr val="45E6F5"/>
          </a:solidFill>
          <a:ln w="12700">
            <a:solidFill>
              <a:srgbClr val="45E6F5"/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1143000" y="2313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 Web</a:t>
            </a:r>
            <a:endParaRPr lang="en-US" sz="1050" dirty="0"/>
          </a:p>
        </p:txBody>
      </p:sp>
      <p:sp>
        <p:nvSpPr>
          <p:cNvPr id="348" name="Text 346"/>
          <p:cNvSpPr/>
          <p:nvPr/>
        </p:nvSpPr>
        <p:spPr>
          <a:xfrm>
            <a:off x="685800" y="275234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目标、预算、流式进度</a:t>
            </a:r>
            <a:endParaRPr lang="en-US" sz="820" dirty="0"/>
          </a:p>
        </p:txBody>
      </p:sp>
      <p:sp>
        <p:nvSpPr>
          <p:cNvPr id="349" name="Shape 347"/>
          <p:cNvSpPr/>
          <p:nvPr/>
        </p:nvSpPr>
        <p:spPr>
          <a:xfrm>
            <a:off x="2743200" y="2148840"/>
            <a:ext cx="2194560" cy="1115568"/>
          </a:xfrm>
          <a:prstGeom prst="roundRect">
            <a:avLst>
              <a:gd name="adj" fmla="val 6557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2926080" y="2350008"/>
            <a:ext cx="347472" cy="347472"/>
          </a:xfrm>
          <a:prstGeom prst="ellipse">
            <a:avLst/>
          </a:prstGeom>
          <a:solidFill>
            <a:srgbClr val="748CFF"/>
          </a:solidFill>
          <a:ln w="12700">
            <a:solidFill>
              <a:srgbClr val="748CFF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>
            <a:off x="3383280" y="2313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MCPay API</a:t>
            </a:r>
            <a:endParaRPr lang="en-US" sz="1050" dirty="0"/>
          </a:p>
        </p:txBody>
      </p:sp>
      <p:sp>
        <p:nvSpPr>
          <p:cNvPr id="352" name="Text 350"/>
          <p:cNvSpPr/>
          <p:nvPr/>
        </p:nvSpPr>
        <p:spPr>
          <a:xfrm>
            <a:off x="2926080" y="27523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Hono 编排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Turnstile 验证</a:t>
            </a:r>
            <a:endParaRPr lang="en-US" sz="820" dirty="0"/>
          </a:p>
        </p:txBody>
      </p:sp>
      <p:sp>
        <p:nvSpPr>
          <p:cNvPr id="353" name="Shape 351"/>
          <p:cNvSpPr/>
          <p:nvPr/>
        </p:nvSpPr>
        <p:spPr>
          <a:xfrm>
            <a:off x="5257800" y="2148840"/>
            <a:ext cx="2560320" cy="1115568"/>
          </a:xfrm>
          <a:prstGeom prst="roundRect">
            <a:avLst>
              <a:gd name="adj" fmla="val 6557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5440680" y="2350008"/>
            <a:ext cx="347472" cy="347472"/>
          </a:xfrm>
          <a:prstGeom prst="ellipse">
            <a:avLst/>
          </a:prstGeom>
          <a:solidFill>
            <a:srgbClr val="71E6B2"/>
          </a:solidFill>
          <a:ln w="12700">
            <a:solidFill>
              <a:srgbClr val="71E6B2"/>
            </a:solidFill>
            <a:prstDash val="solid"/>
          </a:ln>
        </p:spPr>
      </p:sp>
      <p:sp>
        <p:nvSpPr>
          <p:cNvPr id="355" name="Text 353"/>
          <p:cNvSpPr/>
          <p:nvPr/>
        </p:nvSpPr>
        <p:spPr>
          <a:xfrm>
            <a:off x="5897880" y="2313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Research Provider</a:t>
            </a:r>
            <a:endParaRPr lang="en-US" sz="1050" dirty="0"/>
          </a:p>
        </p:txBody>
      </p:sp>
      <p:sp>
        <p:nvSpPr>
          <p:cNvPr id="356" name="Text 354"/>
          <p:cNvSpPr/>
          <p:nvPr/>
        </p:nvSpPr>
        <p:spPr>
          <a:xfrm>
            <a:off x="5440680" y="275234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Offer · 402 · 验证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一次性执行授权</a:t>
            </a:r>
            <a:endParaRPr lang="en-US" sz="820" dirty="0"/>
          </a:p>
        </p:txBody>
      </p:sp>
      <p:sp>
        <p:nvSpPr>
          <p:cNvPr id="357" name="Shape 355"/>
          <p:cNvSpPr/>
          <p:nvPr/>
        </p:nvSpPr>
        <p:spPr>
          <a:xfrm>
            <a:off x="2468880" y="2715768"/>
            <a:ext cx="201168" cy="0"/>
          </a:xfrm>
          <a:prstGeom prst="line">
            <a:avLst/>
          </a:prstGeom>
          <a:noFill/>
          <a:ln w="13970">
            <a:solidFill>
              <a:srgbClr val="45E6F5"/>
            </a:solidFill>
            <a:prstDash val="solid"/>
            <a:tailEnd type="triangle"/>
          </a:ln>
        </p:spPr>
      </p:sp>
      <p:sp>
        <p:nvSpPr>
          <p:cNvPr id="358" name="Shape 356"/>
          <p:cNvSpPr/>
          <p:nvPr/>
        </p:nvSpPr>
        <p:spPr>
          <a:xfrm>
            <a:off x="5001768" y="2715768"/>
            <a:ext cx="182880" cy="0"/>
          </a:xfrm>
          <a:prstGeom prst="line">
            <a:avLst/>
          </a:prstGeom>
          <a:noFill/>
          <a:ln w="13970">
            <a:solidFill>
              <a:srgbClr val="45E6F5"/>
            </a:solidFill>
            <a:prstDash val="solid"/>
            <a:tailEnd type="triangle"/>
          </a:ln>
        </p:spPr>
      </p:sp>
      <p:sp>
        <p:nvSpPr>
          <p:cNvPr id="359" name="Shape 357"/>
          <p:cNvSpPr/>
          <p:nvPr/>
        </p:nvSpPr>
        <p:spPr>
          <a:xfrm>
            <a:off x="2743200" y="4224528"/>
            <a:ext cx="2194560" cy="1115568"/>
          </a:xfrm>
          <a:prstGeom prst="roundRect">
            <a:avLst>
              <a:gd name="adj" fmla="val 6557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2926080" y="4425696"/>
            <a:ext cx="347472" cy="347472"/>
          </a:xfrm>
          <a:prstGeom prst="ellipse">
            <a:avLst/>
          </a:prstGeom>
          <a:solidFill>
            <a:srgbClr val="FFC76A"/>
          </a:solidFill>
          <a:ln w="12700">
            <a:solidFill>
              <a:srgbClr val="FFC76A"/>
            </a:solidFill>
            <a:prstDash val="solid"/>
          </a:ln>
        </p:spPr>
      </p:sp>
      <p:sp>
        <p:nvSpPr>
          <p:cNvPr id="361" name="Text 359"/>
          <p:cNvSpPr/>
          <p:nvPr/>
        </p:nvSpPr>
        <p:spPr>
          <a:xfrm>
            <a:off x="3383280" y="4389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Monad Testnet</a:t>
            </a:r>
            <a:endParaRPr lang="en-US" sz="1050" dirty="0"/>
          </a:p>
        </p:txBody>
      </p:sp>
      <p:sp>
        <p:nvSpPr>
          <p:cNvPr id="362" name="Text 360"/>
          <p:cNvSpPr/>
          <p:nvPr/>
        </p:nvSpPr>
        <p:spPr>
          <a:xfrm>
            <a:off x="2926080" y="48280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原生 MON 转账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交易回执校验</a:t>
            </a:r>
            <a:endParaRPr lang="en-US" sz="820" dirty="0"/>
          </a:p>
        </p:txBody>
      </p:sp>
      <p:sp>
        <p:nvSpPr>
          <p:cNvPr id="363" name="Shape 361"/>
          <p:cNvSpPr/>
          <p:nvPr/>
        </p:nvSpPr>
        <p:spPr>
          <a:xfrm>
            <a:off x="5257800" y="4224528"/>
            <a:ext cx="2560320" cy="1115568"/>
          </a:xfrm>
          <a:prstGeom prst="roundRect">
            <a:avLst>
              <a:gd name="adj" fmla="val 6557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5440680" y="4425696"/>
            <a:ext cx="347472" cy="347472"/>
          </a:xfrm>
          <a:prstGeom prst="ellipse">
            <a:avLst/>
          </a:prstGeom>
          <a:solidFill>
            <a:srgbClr val="748CFF"/>
          </a:solidFill>
          <a:ln w="12700">
            <a:solidFill>
              <a:srgbClr val="748CFF"/>
            </a:solidFill>
            <a:prstDash val="solid"/>
          </a:ln>
        </p:spPr>
      </p:sp>
      <p:sp>
        <p:nvSpPr>
          <p:cNvPr id="365" name="Text 363"/>
          <p:cNvSpPr/>
          <p:nvPr/>
        </p:nvSpPr>
        <p:spPr>
          <a:xfrm>
            <a:off x="5897880" y="4389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Cloudflare D1</a:t>
            </a:r>
            <a:endParaRPr lang="en-US" sz="1050" dirty="0"/>
          </a:p>
        </p:txBody>
      </p:sp>
      <p:sp>
        <p:nvSpPr>
          <p:cNvPr id="366" name="Text 364"/>
          <p:cNvSpPr/>
          <p:nvPr/>
        </p:nvSpPr>
        <p:spPr>
          <a:xfrm>
            <a:off x="5440680" y="48280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payment_consumptions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交易哈希原子消费</a:t>
            </a:r>
            <a:endParaRPr lang="en-US" sz="820" dirty="0"/>
          </a:p>
        </p:txBody>
      </p:sp>
      <p:sp>
        <p:nvSpPr>
          <p:cNvPr id="367" name="Shape 365"/>
          <p:cNvSpPr/>
          <p:nvPr/>
        </p:nvSpPr>
        <p:spPr>
          <a:xfrm>
            <a:off x="8138160" y="2148840"/>
            <a:ext cx="3474720" cy="1115568"/>
          </a:xfrm>
          <a:prstGeom prst="roundRect">
            <a:avLst>
              <a:gd name="adj" fmla="val 6557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8321040" y="2350008"/>
            <a:ext cx="347472" cy="347472"/>
          </a:xfrm>
          <a:prstGeom prst="ellipse">
            <a:avLst/>
          </a:prstGeom>
          <a:solidFill>
            <a:srgbClr val="45E6F5"/>
          </a:solidFill>
          <a:ln w="12700">
            <a:solidFill>
              <a:srgbClr val="45E6F5"/>
            </a:solidFill>
            <a:prstDash val="solid"/>
          </a:ln>
        </p:spPr>
      </p:sp>
      <p:sp>
        <p:nvSpPr>
          <p:cNvPr id="369" name="Text 367"/>
          <p:cNvSpPr/>
          <p:nvPr/>
        </p:nvSpPr>
        <p:spPr>
          <a:xfrm>
            <a:off x="8778240" y="2313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Tavily + DeepSeek</a:t>
            </a:r>
            <a:endParaRPr lang="en-US" sz="1050" dirty="0"/>
          </a:p>
        </p:txBody>
      </p:sp>
      <p:sp>
        <p:nvSpPr>
          <p:cNvPr id="370" name="Text 368"/>
          <p:cNvSpPr/>
          <p:nvPr/>
        </p:nvSpPr>
        <p:spPr>
          <a:xfrm>
            <a:off x="8321040" y="27523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最多 5 条证据检索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证据约束下流式综合</a:t>
            </a:r>
            <a:endParaRPr lang="en-US" sz="820" dirty="0"/>
          </a:p>
        </p:txBody>
      </p:sp>
      <p:sp>
        <p:nvSpPr>
          <p:cNvPr id="371" name="Shape 369"/>
          <p:cNvSpPr/>
          <p:nvPr/>
        </p:nvSpPr>
        <p:spPr>
          <a:xfrm>
            <a:off x="7882128" y="2715768"/>
            <a:ext cx="182880" cy="0"/>
          </a:xfrm>
          <a:prstGeom prst="line">
            <a:avLst/>
          </a:prstGeom>
          <a:noFill/>
          <a:ln w="13970">
            <a:solidFill>
              <a:srgbClr val="71E6B2"/>
            </a:solidFill>
            <a:prstDash val="solid"/>
            <a:tailEnd type="triangle"/>
          </a:ln>
        </p:spPr>
      </p:sp>
      <p:sp>
        <p:nvSpPr>
          <p:cNvPr id="372" name="Shape 370"/>
          <p:cNvSpPr/>
          <p:nvPr/>
        </p:nvSpPr>
        <p:spPr>
          <a:xfrm>
            <a:off x="3840480" y="3337560"/>
            <a:ext cx="0" cy="886968"/>
          </a:xfrm>
          <a:prstGeom prst="line">
            <a:avLst/>
          </a:prstGeom>
          <a:noFill/>
          <a:ln w="13970">
            <a:solidFill>
              <a:srgbClr val="FFC76A"/>
            </a:solidFill>
            <a:prstDash val="solid"/>
            <a:tailEnd type="triangle"/>
          </a:ln>
        </p:spPr>
      </p:sp>
      <p:sp>
        <p:nvSpPr>
          <p:cNvPr id="373" name="Shape 371"/>
          <p:cNvSpPr/>
          <p:nvPr/>
        </p:nvSpPr>
        <p:spPr>
          <a:xfrm>
            <a:off x="6537960" y="3337560"/>
            <a:ext cx="0" cy="886968"/>
          </a:xfrm>
          <a:prstGeom prst="line">
            <a:avLst/>
          </a:prstGeom>
          <a:noFill/>
          <a:ln w="13970">
            <a:solidFill>
              <a:srgbClr val="748CFF"/>
            </a:solidFill>
            <a:prstDash val="solid"/>
            <a:tailEnd type="triangle"/>
          </a:ln>
        </p:spPr>
      </p:sp>
      <p:sp>
        <p:nvSpPr>
          <p:cNvPr id="374" name="Text 372"/>
          <p:cNvSpPr/>
          <p:nvPr/>
        </p:nvSpPr>
        <p:spPr>
          <a:xfrm>
            <a:off x="3246120" y="3703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C7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支付结算</a:t>
            </a:r>
            <a:endParaRPr lang="en-US" sz="820" dirty="0"/>
          </a:p>
        </p:txBody>
      </p:sp>
      <p:sp>
        <p:nvSpPr>
          <p:cNvPr id="375" name="Text 373"/>
          <p:cNvSpPr/>
          <p:nvPr/>
        </p:nvSpPr>
        <p:spPr>
          <a:xfrm>
            <a:off x="5852160" y="3703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48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防重放</a:t>
            </a:r>
            <a:endParaRPr lang="en-US" sz="820" dirty="0"/>
          </a:p>
        </p:txBody>
      </p:sp>
      <p:sp>
        <p:nvSpPr>
          <p:cNvPr id="376" name="Shape 374"/>
          <p:cNvSpPr/>
          <p:nvPr/>
        </p:nvSpPr>
        <p:spPr>
          <a:xfrm>
            <a:off x="2743200" y="5806440"/>
            <a:ext cx="4709160" cy="274320"/>
          </a:xfrm>
          <a:prstGeom prst="roundRect">
            <a:avLst>
              <a:gd name="adj" fmla="val 26667"/>
            </a:avLst>
          </a:prstGeom>
          <a:solidFill>
            <a:srgbClr val="45E6F5">
              <a:alpha val="18000"/>
            </a:srgbClr>
          </a:solidFill>
          <a:ln w="7620">
            <a:solidFill>
              <a:srgbClr val="45E6F5">
                <a:alpha val="60000"/>
              </a:srgbClr>
            </a:solidFill>
            <a:prstDash val="solid"/>
          </a:ln>
        </p:spPr>
      </p:sp>
      <p:sp>
        <p:nvSpPr>
          <p:cNvPr id="377" name="Text 375"/>
          <p:cNvSpPr/>
          <p:nvPr/>
        </p:nvSpPr>
        <p:spPr>
          <a:xfrm>
            <a:off x="2743200" y="5856732"/>
            <a:ext cx="4709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NDJSON：planning → offers → payment → execution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745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745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745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745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745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745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745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745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745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745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745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03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803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803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803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803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803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803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803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803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803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803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803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803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03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832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832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832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832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832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832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832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832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832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862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862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862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862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862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862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862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862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862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862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8862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8862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8862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8862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891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891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891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891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891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891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3891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891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8920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920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8920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920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8920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920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920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920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920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920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920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920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920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920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3949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949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949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949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949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949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3949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3949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3949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949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3949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949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3949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3949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8978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978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978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8978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978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8978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978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8978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8978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8978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978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978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978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8978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008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008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008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008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008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008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008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008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008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008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008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008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4008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008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037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037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037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037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037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9037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037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037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037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037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9037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9037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037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037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066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066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066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4066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066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066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4066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4066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066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066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066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066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66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66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9095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9095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9095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9095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9095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9095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95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95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95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95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95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95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95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95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4124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4124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4124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4124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124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124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4124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4124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4124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4124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4124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4124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4124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4124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154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154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154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9154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9154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9154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154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9154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9154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9154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9154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9154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9154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9154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4183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4183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4183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4183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183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4183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4183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4183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4183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4183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4183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4183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4183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4183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99212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9212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9212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9212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9212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9212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9212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9212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9212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212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9212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9212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99212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9212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4241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04241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4241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4241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4241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04241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4241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4241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04241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4241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4241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4241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4241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4241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9270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9270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9270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09270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9270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9270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9270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9270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9270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9270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9270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9270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9270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9270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4300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14300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14300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14300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14300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14300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14300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14300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4300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14300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14300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14300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14300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14300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9329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9329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9329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9329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9329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9329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9329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9329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9329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9329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9329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9329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19329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9329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235440" y="-1463040"/>
            <a:ext cx="4114800" cy="4114800"/>
          </a:xfrm>
          <a:prstGeom prst="ellipse">
            <a:avLst/>
          </a:prstGeom>
          <a:solidFill>
            <a:srgbClr val="E6F3FF">
              <a:alpha val="45000"/>
            </a:srgbClr>
          </a:solidFill>
          <a:ln w="12700">
            <a:solidFill>
              <a:srgbClr val="D4E9FF">
                <a:alpha val="75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-1554480" y="5074920"/>
            <a:ext cx="3931920" cy="3931920"/>
          </a:xfrm>
          <a:prstGeom prst="ellipse">
            <a:avLst/>
          </a:prstGeom>
          <a:solidFill>
            <a:srgbClr val="E9F1FF">
              <a:alpha val="40000"/>
            </a:srgbClr>
          </a:solidFill>
          <a:ln w="12700">
            <a:solidFill>
              <a:srgbClr val="E5EDFF">
                <a:alpha val="65000"/>
              </a:srgbClr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502920" y="384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TRUST</a:t>
            </a:r>
            <a:endParaRPr lang="en-US" sz="850" dirty="0"/>
          </a:p>
        </p:txBody>
      </p:sp>
      <p:sp>
        <p:nvSpPr>
          <p:cNvPr id="341" name="Text 339"/>
          <p:cNvSpPr/>
          <p:nvPr/>
        </p:nvSpPr>
        <p:spPr>
          <a:xfrm>
            <a:off x="502920" y="66751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13A"/>
                </a:solidFill>
              </a:rPr>
              <a:t>一笔支付，只能兑换一次执行</a:t>
            </a:r>
            <a:endParaRPr lang="en-US" sz="2500" dirty="0"/>
          </a:p>
        </p:txBody>
      </p:sp>
      <p:sp>
        <p:nvSpPr>
          <p:cNvPr id="342" name="Text 340"/>
          <p:cNvSpPr/>
          <p:nvPr/>
        </p:nvSpPr>
        <p:spPr>
          <a:xfrm>
            <a:off x="521208" y="12801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7797"/>
                </a:solidFill>
              </a:rPr>
              <a:t>Provider 不信任客户端声明；它独立核验链上回执，并由 D1 原子记录消费状态。</a:t>
            </a:r>
            <a:endParaRPr lang="en-US" sz="1100" dirty="0"/>
          </a:p>
        </p:txBody>
      </p:sp>
      <p:sp>
        <p:nvSpPr>
          <p:cNvPr id="343" name="Text 341"/>
          <p:cNvSpPr/>
          <p:nvPr/>
        </p:nvSpPr>
        <p:spPr>
          <a:xfrm>
            <a:off x="502920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MCPay · Agent Commerce on Monad</a:t>
            </a:r>
            <a:endParaRPr lang="en-US" sz="750" dirty="0"/>
          </a:p>
        </p:txBody>
      </p:sp>
      <p:sp>
        <p:nvSpPr>
          <p:cNvPr id="344" name="Text 342"/>
          <p:cNvSpPr/>
          <p:nvPr/>
        </p:nvSpPr>
        <p:spPr>
          <a:xfrm>
            <a:off x="1120140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345" name="Shape 343"/>
          <p:cNvSpPr/>
          <p:nvPr/>
        </p:nvSpPr>
        <p:spPr>
          <a:xfrm>
            <a:off x="685800" y="210312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D5E2F2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941832" y="235915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FFC76A">
              <a:alpha val="20000"/>
            </a:srgbClr>
          </a:solidFill>
          <a:ln w="7620">
            <a:solidFill>
              <a:srgbClr val="FFC76A">
                <a:alpha val="90000"/>
              </a:srgbClr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941832" y="240944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0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348" name="Text 346"/>
          <p:cNvSpPr/>
          <p:nvPr/>
        </p:nvSpPr>
        <p:spPr>
          <a:xfrm>
            <a:off x="960120" y="29077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交易哈希</a:t>
            </a:r>
            <a:endParaRPr lang="en-US" sz="1500" dirty="0"/>
          </a:p>
        </p:txBody>
      </p:sp>
      <p:sp>
        <p:nvSpPr>
          <p:cNvPr id="349" name="Text 347"/>
          <p:cNvSpPr/>
          <p:nvPr/>
        </p:nvSpPr>
        <p:spPr>
          <a:xfrm>
            <a:off x="960120" y="3346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C7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Monad 回执校验</a:t>
            </a:r>
            <a:endParaRPr lang="en-US" sz="930" dirty="0"/>
          </a:p>
        </p:txBody>
      </p:sp>
      <p:sp>
        <p:nvSpPr>
          <p:cNvPr id="350" name="Text 348"/>
          <p:cNvSpPr/>
          <p:nvPr/>
        </p:nvSpPr>
        <p:spPr>
          <a:xfrm>
            <a:off x="960120" y="37673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F77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成功状态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F77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收款地址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F77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精确金额</a:t>
            </a:r>
            <a:endParaRPr lang="en-US" sz="1020" dirty="0"/>
          </a:p>
        </p:txBody>
      </p:sp>
      <p:sp>
        <p:nvSpPr>
          <p:cNvPr id="351" name="Shape 349"/>
          <p:cNvSpPr/>
          <p:nvPr/>
        </p:nvSpPr>
        <p:spPr>
          <a:xfrm>
            <a:off x="4014216" y="3383280"/>
            <a:ext cx="347472" cy="0"/>
          </a:xfrm>
          <a:prstGeom prst="line">
            <a:avLst/>
          </a:prstGeom>
          <a:noFill/>
          <a:ln w="13970">
            <a:solidFill>
              <a:srgbClr val="5F7797"/>
            </a:solidFill>
            <a:prstDash val="solid"/>
            <a:tailEnd type="triangle"/>
          </a:ln>
        </p:spPr>
      </p:sp>
      <p:sp>
        <p:nvSpPr>
          <p:cNvPr id="352" name="Shape 350"/>
          <p:cNvSpPr/>
          <p:nvPr/>
        </p:nvSpPr>
        <p:spPr>
          <a:xfrm>
            <a:off x="4526280" y="210312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D5E2F2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4782312" y="235915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748CFF">
              <a:alpha val="20000"/>
            </a:srgbClr>
          </a:solidFill>
          <a:ln w="7620">
            <a:solidFill>
              <a:srgbClr val="748CFF">
                <a:alpha val="90000"/>
              </a:srgbClr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>
            <a:off x="4782312" y="240944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0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355" name="Text 353"/>
          <p:cNvSpPr/>
          <p:nvPr/>
        </p:nvSpPr>
        <p:spPr>
          <a:xfrm>
            <a:off x="4800600" y="29077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原子消费</a:t>
            </a:r>
            <a:endParaRPr lang="en-US" sz="1500" dirty="0"/>
          </a:p>
        </p:txBody>
      </p:sp>
      <p:sp>
        <p:nvSpPr>
          <p:cNvPr id="356" name="Text 354"/>
          <p:cNvSpPr/>
          <p:nvPr/>
        </p:nvSpPr>
        <p:spPr>
          <a:xfrm>
            <a:off x="4800600" y="3346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748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Cloudflare D1</a:t>
            </a:r>
            <a:endParaRPr lang="en-US" sz="930" dirty="0"/>
          </a:p>
        </p:txBody>
      </p:sp>
      <p:sp>
        <p:nvSpPr>
          <p:cNvPr id="357" name="Text 355"/>
          <p:cNvSpPr/>
          <p:nvPr/>
        </p:nvSpPr>
        <p:spPr>
          <a:xfrm>
            <a:off x="4800600" y="37673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F77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 OR IGNORE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F77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唯一主键</a:t>
            </a:r>
            <a:endParaRPr lang="en-US" sz="1020" dirty="0"/>
          </a:p>
        </p:txBody>
      </p:sp>
      <p:sp>
        <p:nvSpPr>
          <p:cNvPr id="358" name="Shape 356"/>
          <p:cNvSpPr/>
          <p:nvPr/>
        </p:nvSpPr>
        <p:spPr>
          <a:xfrm>
            <a:off x="7854696" y="3383280"/>
            <a:ext cx="347472" cy="0"/>
          </a:xfrm>
          <a:prstGeom prst="line">
            <a:avLst/>
          </a:prstGeom>
          <a:noFill/>
          <a:ln w="13970">
            <a:solidFill>
              <a:srgbClr val="5F7797"/>
            </a:solidFill>
            <a:prstDash val="solid"/>
            <a:tailEnd type="triangle"/>
          </a:ln>
        </p:spPr>
      </p:sp>
      <p:sp>
        <p:nvSpPr>
          <p:cNvPr id="359" name="Shape 357"/>
          <p:cNvSpPr/>
          <p:nvPr/>
        </p:nvSpPr>
        <p:spPr>
          <a:xfrm>
            <a:off x="8366760" y="210312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D5E2F2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8622792" y="2359152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71E6B2">
              <a:alpha val="20000"/>
            </a:srgbClr>
          </a:solidFill>
          <a:ln w="7620">
            <a:solidFill>
              <a:srgbClr val="71E6B2">
                <a:alpha val="90000"/>
              </a:srgbClr>
            </a:solidFill>
            <a:prstDash val="solid"/>
          </a:ln>
        </p:spPr>
      </p:sp>
      <p:sp>
        <p:nvSpPr>
          <p:cNvPr id="361" name="Text 359"/>
          <p:cNvSpPr/>
          <p:nvPr/>
        </p:nvSpPr>
        <p:spPr>
          <a:xfrm>
            <a:off x="8622792" y="240944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0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362" name="Text 360"/>
          <p:cNvSpPr/>
          <p:nvPr/>
        </p:nvSpPr>
        <p:spPr>
          <a:xfrm>
            <a:off x="8641080" y="29077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一次执行</a:t>
            </a:r>
            <a:endParaRPr lang="en-US" sz="1500" dirty="0"/>
          </a:p>
        </p:txBody>
      </p:sp>
      <p:sp>
        <p:nvSpPr>
          <p:cNvPr id="363" name="Text 361"/>
          <p:cNvSpPr/>
          <p:nvPr/>
        </p:nvSpPr>
        <p:spPr>
          <a:xfrm>
            <a:off x="8641080" y="3346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71E6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Research Provider</a:t>
            </a:r>
            <a:endParaRPr lang="en-US" sz="930" dirty="0"/>
          </a:p>
        </p:txBody>
      </p:sp>
      <p:sp>
        <p:nvSpPr>
          <p:cNvPr id="364" name="Text 362"/>
          <p:cNvSpPr/>
          <p:nvPr/>
        </p:nvSpPr>
        <p:spPr>
          <a:xfrm>
            <a:off x="8641080" y="37673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F77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第一次：执行研究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F77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重复：409 拒绝</a:t>
            </a:r>
            <a:endParaRPr lang="en-US" sz="1020" dirty="0"/>
          </a:p>
        </p:txBody>
      </p:sp>
      <p:sp>
        <p:nvSpPr>
          <p:cNvPr id="365" name="Shape 363"/>
          <p:cNvSpPr/>
          <p:nvPr/>
        </p:nvSpPr>
        <p:spPr>
          <a:xfrm>
            <a:off x="1965960" y="5440680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DEEF0"/>
          </a:solidFill>
          <a:ln w="8890">
            <a:solidFill>
              <a:srgbClr val="FFC3CB"/>
            </a:solidFill>
            <a:prstDash val="solid"/>
          </a:ln>
        </p:spPr>
      </p:sp>
      <p:sp>
        <p:nvSpPr>
          <p:cNvPr id="366" name="Text 364"/>
          <p:cNvSpPr/>
          <p:nvPr/>
        </p:nvSpPr>
        <p:spPr>
          <a:xfrm>
            <a:off x="2194560" y="56052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同一交易哈希第二次兑换执行 → 409 Conflict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745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745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745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745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745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745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745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745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745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745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745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03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803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803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803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803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803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803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803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803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803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803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803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803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03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832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832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832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832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832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832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832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832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832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862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862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862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862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862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862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862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862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862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862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8862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8862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8862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8862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891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891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891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891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891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891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3891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891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8920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920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8920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920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8920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920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920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920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920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920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920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920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920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920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3949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949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949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949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949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949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3949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3949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3949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949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3949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949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3949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3949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8978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978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978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8978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978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8978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978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8978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8978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8978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978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978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978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8978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008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008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008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008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008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008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008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008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008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008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008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008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4008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008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037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037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037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037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037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9037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037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037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037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037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9037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9037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037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037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066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066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066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4066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066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066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4066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4066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066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066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066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066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66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66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9095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9095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9095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9095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9095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9095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95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95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95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95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95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95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95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95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4124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4124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4124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4124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124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124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4124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4124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4124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4124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4124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4124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4124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4124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154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154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154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9154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9154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9154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154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9154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9154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9154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9154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9154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9154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9154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4183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4183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4183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4183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183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4183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4183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4183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4183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4183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4183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4183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4183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4183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992124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92124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92124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92124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92124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92124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92124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92124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92124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2124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92124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92124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992124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92124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42416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042416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42416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42416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42416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042416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42416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42416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042416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42416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42416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42416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42416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42416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92708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92708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92708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092708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92708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92708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92708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92708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92708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92708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92708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92708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92708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92708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43000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143000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143000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143000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143000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143000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143000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143000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43000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143000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143000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143000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143000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143000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932920" y="3200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932920" y="8229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932920" y="13258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932920" y="18288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932920" y="23317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932920" y="28346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932920" y="33375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932920" y="38404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932920" y="43434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932920" y="484632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932920" y="534924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932920" y="585216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1932920" y="635508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932920" y="6858000"/>
            <a:ext cx="20117" cy="20117"/>
          </a:xfrm>
          <a:prstGeom prst="ellipse">
            <a:avLst/>
          </a:prstGeom>
          <a:solidFill>
            <a:srgbClr val="1E3352">
              <a:alpha val="45000"/>
            </a:srgbClr>
          </a:solidFill>
          <a:ln w="12700">
            <a:solidFill>
              <a:srgbClr val="1E3352">
                <a:alpha val="4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235440" y="-1463040"/>
            <a:ext cx="4114800" cy="4114800"/>
          </a:xfrm>
          <a:prstGeom prst="ellipse">
            <a:avLst/>
          </a:prstGeom>
          <a:solidFill>
            <a:srgbClr val="123859">
              <a:alpha val="38000"/>
            </a:srgbClr>
          </a:solidFill>
          <a:ln w="12700">
            <a:solidFill>
              <a:srgbClr val="143B60">
                <a:alpha val="75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-1554480" y="5074920"/>
            <a:ext cx="3931920" cy="3931920"/>
          </a:xfrm>
          <a:prstGeom prst="ellipse">
            <a:avLst/>
          </a:prstGeom>
          <a:solidFill>
            <a:srgbClr val="172A50">
              <a:alpha val="40000"/>
            </a:srgbClr>
          </a:solidFill>
          <a:ln w="12700">
            <a:solidFill>
              <a:srgbClr val="182A54">
                <a:alpha val="65000"/>
              </a:srgbClr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502920" y="384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RESEARCH</a:t>
            </a:r>
            <a:endParaRPr lang="en-US" sz="850" dirty="0"/>
          </a:p>
        </p:txBody>
      </p:sp>
      <p:sp>
        <p:nvSpPr>
          <p:cNvPr id="341" name="Text 339"/>
          <p:cNvSpPr/>
          <p:nvPr/>
        </p:nvSpPr>
        <p:spPr>
          <a:xfrm>
            <a:off x="502920" y="66751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8FF"/>
                </a:solidFill>
              </a:rPr>
              <a:t>真实服务，而非模型幻觉</a:t>
            </a:r>
            <a:endParaRPr lang="en-US" sz="2500" dirty="0"/>
          </a:p>
        </p:txBody>
      </p:sp>
      <p:sp>
        <p:nvSpPr>
          <p:cNvPr id="342" name="Text 340"/>
          <p:cNvSpPr/>
          <p:nvPr/>
        </p:nvSpPr>
        <p:spPr>
          <a:xfrm>
            <a:off x="521208" y="12801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8C8E5"/>
                </a:solidFill>
              </a:rPr>
              <a:t>检索与生成分离：先取证，再由模型仅基于证据进行流式综合。</a:t>
            </a:r>
            <a:endParaRPr lang="en-US" sz="1100" dirty="0"/>
          </a:p>
        </p:txBody>
      </p:sp>
      <p:sp>
        <p:nvSpPr>
          <p:cNvPr id="343" name="Text 341"/>
          <p:cNvSpPr/>
          <p:nvPr/>
        </p:nvSpPr>
        <p:spPr>
          <a:xfrm>
            <a:off x="502920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719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MCPay · Agent Commerce on Monad</a:t>
            </a:r>
            <a:endParaRPr lang="en-US" sz="750" dirty="0"/>
          </a:p>
        </p:txBody>
      </p:sp>
      <p:sp>
        <p:nvSpPr>
          <p:cNvPr id="344" name="Text 342"/>
          <p:cNvSpPr/>
          <p:nvPr/>
        </p:nvSpPr>
        <p:spPr>
          <a:xfrm>
            <a:off x="1120140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9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345" name="Shape 343"/>
          <p:cNvSpPr/>
          <p:nvPr/>
        </p:nvSpPr>
        <p:spPr>
          <a:xfrm>
            <a:off x="685800" y="2359152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868680" y="2560320"/>
            <a:ext cx="347472" cy="347472"/>
          </a:xfrm>
          <a:prstGeom prst="ellipse">
            <a:avLst/>
          </a:prstGeom>
          <a:solidFill>
            <a:srgbClr val="45E6F5"/>
          </a:solidFill>
          <a:ln w="12700">
            <a:solidFill>
              <a:srgbClr val="45E6F5"/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1325880" y="25237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任务目标</a:t>
            </a:r>
            <a:endParaRPr lang="en-US" sz="1050" dirty="0"/>
          </a:p>
        </p:txBody>
      </p:sp>
      <p:sp>
        <p:nvSpPr>
          <p:cNvPr id="348" name="Text 346"/>
          <p:cNvSpPr/>
          <p:nvPr/>
        </p:nvSpPr>
        <p:spPr>
          <a:xfrm>
            <a:off x="868680" y="2962656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 Monad 生态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识别潜力项目</a:t>
            </a:r>
            <a:endParaRPr lang="en-US" sz="820" dirty="0"/>
          </a:p>
        </p:txBody>
      </p:sp>
      <p:sp>
        <p:nvSpPr>
          <p:cNvPr id="349" name="Shape 347"/>
          <p:cNvSpPr/>
          <p:nvPr/>
        </p:nvSpPr>
        <p:spPr>
          <a:xfrm>
            <a:off x="3401568" y="2359152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3584448" y="2560320"/>
            <a:ext cx="347472" cy="347472"/>
          </a:xfrm>
          <a:prstGeom prst="ellipse">
            <a:avLst/>
          </a:prstGeom>
          <a:solidFill>
            <a:srgbClr val="FFC76A"/>
          </a:solidFill>
          <a:ln w="12700">
            <a:solidFill>
              <a:srgbClr val="FFC76A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>
            <a:off x="4041648" y="25237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Tavily</a:t>
            </a:r>
            <a:endParaRPr lang="en-US" sz="1050" dirty="0"/>
          </a:p>
        </p:txBody>
      </p:sp>
      <p:sp>
        <p:nvSpPr>
          <p:cNvPr id="352" name="Text 350"/>
          <p:cNvSpPr/>
          <p:nvPr/>
        </p:nvSpPr>
        <p:spPr>
          <a:xfrm>
            <a:off x="3584448" y="2962656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实时检索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最多 5 条网页证据</a:t>
            </a:r>
            <a:endParaRPr lang="en-US" sz="820" dirty="0"/>
          </a:p>
        </p:txBody>
      </p:sp>
      <p:sp>
        <p:nvSpPr>
          <p:cNvPr id="353" name="Shape 351"/>
          <p:cNvSpPr/>
          <p:nvPr/>
        </p:nvSpPr>
        <p:spPr>
          <a:xfrm>
            <a:off x="6117336" y="2359152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300216" y="2560320"/>
            <a:ext cx="347472" cy="347472"/>
          </a:xfrm>
          <a:prstGeom prst="ellipse">
            <a:avLst/>
          </a:prstGeom>
          <a:solidFill>
            <a:srgbClr val="748CFF"/>
          </a:solidFill>
          <a:ln w="12700">
            <a:solidFill>
              <a:srgbClr val="748CFF"/>
            </a:solidFill>
            <a:prstDash val="solid"/>
          </a:ln>
        </p:spPr>
      </p:sp>
      <p:sp>
        <p:nvSpPr>
          <p:cNvPr id="355" name="Text 353"/>
          <p:cNvSpPr/>
          <p:nvPr/>
        </p:nvSpPr>
        <p:spPr>
          <a:xfrm>
            <a:off x="6757416" y="25237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DeepSeek</a:t>
            </a:r>
            <a:endParaRPr lang="en-US" sz="1050" dirty="0"/>
          </a:p>
        </p:txBody>
      </p:sp>
      <p:sp>
        <p:nvSpPr>
          <p:cNvPr id="356" name="Text 354"/>
          <p:cNvSpPr/>
          <p:nvPr/>
        </p:nvSpPr>
        <p:spPr>
          <a:xfrm>
            <a:off x="6300216" y="2962656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仅基于目标 + 证据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流式综合</a:t>
            </a:r>
            <a:endParaRPr lang="en-US" sz="820" dirty="0"/>
          </a:p>
        </p:txBody>
      </p:sp>
      <p:sp>
        <p:nvSpPr>
          <p:cNvPr id="357" name="Shape 355"/>
          <p:cNvSpPr/>
          <p:nvPr/>
        </p:nvSpPr>
        <p:spPr>
          <a:xfrm>
            <a:off x="8833104" y="2359152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01C31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9015984" y="2560320"/>
            <a:ext cx="347472" cy="347472"/>
          </a:xfrm>
          <a:prstGeom prst="ellipse">
            <a:avLst/>
          </a:prstGeom>
          <a:solidFill>
            <a:srgbClr val="71E6B2"/>
          </a:solidFill>
          <a:ln w="12700">
            <a:solidFill>
              <a:srgbClr val="71E6B2"/>
            </a:solidFill>
            <a:prstDash val="solid"/>
          </a:ln>
        </p:spPr>
      </p:sp>
      <p:sp>
        <p:nvSpPr>
          <p:cNvPr id="359" name="Text 357"/>
          <p:cNvSpPr/>
          <p:nvPr/>
        </p:nvSpPr>
        <p:spPr>
          <a:xfrm>
            <a:off x="9473184" y="25237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可核验输出</a:t>
            </a:r>
            <a:endParaRPr lang="en-US" sz="1050" dirty="0"/>
          </a:p>
        </p:txBody>
      </p:sp>
      <p:sp>
        <p:nvSpPr>
          <p:cNvPr id="360" name="Text 358"/>
          <p:cNvSpPr/>
          <p:nvPr/>
        </p:nvSpPr>
        <p:spPr>
          <a:xfrm>
            <a:off x="9015984" y="296265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研究正文 +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8C8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标题 / URL 引用</a:t>
            </a:r>
            <a:endParaRPr lang="en-US" sz="820" dirty="0"/>
          </a:p>
        </p:txBody>
      </p:sp>
      <p:sp>
        <p:nvSpPr>
          <p:cNvPr id="361" name="Shape 359"/>
          <p:cNvSpPr/>
          <p:nvPr/>
        </p:nvSpPr>
        <p:spPr>
          <a:xfrm>
            <a:off x="2944368" y="3044952"/>
            <a:ext cx="384048" cy="0"/>
          </a:xfrm>
          <a:prstGeom prst="line">
            <a:avLst/>
          </a:prstGeom>
          <a:noFill/>
          <a:ln w="13970">
            <a:solidFill>
              <a:srgbClr val="45E6F5"/>
            </a:solidFill>
            <a:prstDash val="solid"/>
            <a:tailEnd type="triangle"/>
          </a:ln>
        </p:spPr>
      </p:sp>
      <p:sp>
        <p:nvSpPr>
          <p:cNvPr id="362" name="Shape 360"/>
          <p:cNvSpPr/>
          <p:nvPr/>
        </p:nvSpPr>
        <p:spPr>
          <a:xfrm>
            <a:off x="5650992" y="3044952"/>
            <a:ext cx="384048" cy="0"/>
          </a:xfrm>
          <a:prstGeom prst="line">
            <a:avLst/>
          </a:prstGeom>
          <a:noFill/>
          <a:ln w="13970">
            <a:solidFill>
              <a:srgbClr val="FFC76A"/>
            </a:solidFill>
            <a:prstDash val="solid"/>
            <a:tailEnd type="triangle"/>
          </a:ln>
        </p:spPr>
      </p:sp>
      <p:sp>
        <p:nvSpPr>
          <p:cNvPr id="363" name="Shape 361"/>
          <p:cNvSpPr/>
          <p:nvPr/>
        </p:nvSpPr>
        <p:spPr>
          <a:xfrm>
            <a:off x="8366760" y="3044952"/>
            <a:ext cx="384048" cy="0"/>
          </a:xfrm>
          <a:prstGeom prst="line">
            <a:avLst/>
          </a:prstGeom>
          <a:noFill/>
          <a:ln w="13970">
            <a:solidFill>
              <a:srgbClr val="748CFF"/>
            </a:solidFill>
            <a:prstDash val="solid"/>
            <a:tailEnd type="triangle"/>
          </a:ln>
        </p:spPr>
      </p:sp>
      <p:sp>
        <p:nvSpPr>
          <p:cNvPr id="364" name="Shape 362"/>
          <p:cNvSpPr/>
          <p:nvPr/>
        </p:nvSpPr>
        <p:spPr>
          <a:xfrm>
            <a:off x="1234440" y="4681728"/>
            <a:ext cx="9738360" cy="731520"/>
          </a:xfrm>
          <a:prstGeom prst="roundRect">
            <a:avLst>
              <a:gd name="adj" fmla="val 10000"/>
            </a:avLst>
          </a:prstGeom>
          <a:solidFill>
            <a:srgbClr val="152640"/>
          </a:solidFill>
          <a:ln w="8890">
            <a:solidFill>
              <a:srgbClr val="1E3352"/>
            </a:solidFill>
            <a:prstDash val="solid"/>
          </a:ln>
        </p:spPr>
      </p:sp>
      <p:sp>
        <p:nvSpPr>
          <p:cNvPr id="365" name="Text 363"/>
          <p:cNvSpPr/>
          <p:nvPr/>
        </p:nvSpPr>
        <p:spPr>
          <a:xfrm>
            <a:off x="1572768" y="49286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5E6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证据边界</a:t>
            </a:r>
            <a:endParaRPr lang="en-US" sz="950" dirty="0"/>
          </a:p>
        </p:txBody>
      </p:sp>
      <p:sp>
        <p:nvSpPr>
          <p:cNvPr id="366" name="Text 364"/>
          <p:cNvSpPr/>
          <p:nvPr/>
        </p:nvSpPr>
        <p:spPr>
          <a:xfrm>
            <a:off x="2743200" y="49103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5F8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输出不仅给结论，也返回每条证据的标题与 URL；演示中不展示 API Key、私钥或 Token。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745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745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745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745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745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745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745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745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745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745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745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03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803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803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803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803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803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803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803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803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803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803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803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803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03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832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832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832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832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832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832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832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832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832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862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862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862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862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862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862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862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862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862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862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8862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8862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8862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8862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891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891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891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891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891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891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3891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891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91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891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91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3891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3891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3891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8920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920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8920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920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8920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920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920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920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920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920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920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920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920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920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3949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949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949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949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949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949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3949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3949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3949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949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3949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949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3949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3949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8978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978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978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8978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978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8978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978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8978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8978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8978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978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978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978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8978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008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008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008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008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008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008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008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008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008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008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008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008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4008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008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037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037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037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037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037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9037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037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9037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037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037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9037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9037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037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037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066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066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066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4066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066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066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4066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4066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066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066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066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4066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66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66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9095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9095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9095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9095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9095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9095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095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9095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095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095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9095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9095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9095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9095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4124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4124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4124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4124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124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124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4124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4124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4124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4124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4124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4124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4124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4124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154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154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154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9154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9154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9154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154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9154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9154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9154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9154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9154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9154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9154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4183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4183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4183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4183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183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4183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4183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4183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4183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4183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4183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4183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4183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4183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992124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92124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92124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92124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92124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92124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92124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92124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92124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2124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92124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92124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992124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92124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42416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042416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42416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42416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42416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042416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42416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42416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042416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42416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42416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42416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42416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42416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92708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92708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92708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092708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92708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92708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92708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92708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92708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92708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92708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92708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92708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92708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43000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143000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143000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143000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143000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143000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143000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143000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43000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143000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143000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143000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143000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143000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932920" y="3200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932920" y="8229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932920" y="13258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932920" y="18288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932920" y="23317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932920" y="28346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932920" y="33375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932920" y="38404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932920" y="43434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932920" y="484632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932920" y="534924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932920" y="585216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1932920" y="635508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932920" y="6858000"/>
            <a:ext cx="20117" cy="20117"/>
          </a:xfrm>
          <a:prstGeom prst="ellipse">
            <a:avLst/>
          </a:prstGeom>
          <a:solidFill>
            <a:srgbClr val="DCE8F7">
              <a:alpha val="45000"/>
            </a:srgbClr>
          </a:solidFill>
          <a:ln w="12700">
            <a:solidFill>
              <a:srgbClr val="DCE8F7">
                <a:alpha val="4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235440" y="-1463040"/>
            <a:ext cx="4114800" cy="4114800"/>
          </a:xfrm>
          <a:prstGeom prst="ellipse">
            <a:avLst/>
          </a:prstGeom>
          <a:solidFill>
            <a:srgbClr val="E6F3FF">
              <a:alpha val="45000"/>
            </a:srgbClr>
          </a:solidFill>
          <a:ln w="12700">
            <a:solidFill>
              <a:srgbClr val="D4E9FF">
                <a:alpha val="75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-1554480" y="5074920"/>
            <a:ext cx="3931920" cy="3931920"/>
          </a:xfrm>
          <a:prstGeom prst="ellipse">
            <a:avLst/>
          </a:prstGeom>
          <a:solidFill>
            <a:srgbClr val="E9F1FF">
              <a:alpha val="40000"/>
            </a:srgbClr>
          </a:solidFill>
          <a:ln w="12700">
            <a:solidFill>
              <a:srgbClr val="E5EDFF">
                <a:alpha val="65000"/>
              </a:srgbClr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502920" y="384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5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SCOPE</a:t>
            </a:r>
            <a:endParaRPr lang="en-US" sz="850" dirty="0"/>
          </a:p>
        </p:txBody>
      </p:sp>
      <p:sp>
        <p:nvSpPr>
          <p:cNvPr id="341" name="Text 339"/>
          <p:cNvSpPr/>
          <p:nvPr/>
        </p:nvSpPr>
        <p:spPr>
          <a:xfrm>
            <a:off x="502920" y="66751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13A"/>
                </a:solidFill>
              </a:rPr>
              <a:t>已落地的闭环，与明确保留的边界</a:t>
            </a:r>
            <a:endParaRPr lang="en-US" sz="2500" dirty="0"/>
          </a:p>
        </p:txBody>
      </p:sp>
      <p:sp>
        <p:nvSpPr>
          <p:cNvPr id="342" name="Text 340"/>
          <p:cNvSpPr/>
          <p:nvPr/>
        </p:nvSpPr>
        <p:spPr>
          <a:xfrm>
            <a:off x="521208" y="12801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7797"/>
                </a:solidFill>
              </a:rPr>
              <a:t>MVP 已在 Monad Testnet 完成核心链路；生产级商业治理仍是下一步。</a:t>
            </a:r>
            <a:endParaRPr lang="en-US" sz="1100" dirty="0"/>
          </a:p>
        </p:txBody>
      </p:sp>
      <p:sp>
        <p:nvSpPr>
          <p:cNvPr id="343" name="Text 341"/>
          <p:cNvSpPr/>
          <p:nvPr/>
        </p:nvSpPr>
        <p:spPr>
          <a:xfrm>
            <a:off x="502920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MCPay · Agent Commerce on Monad</a:t>
            </a:r>
            <a:endParaRPr lang="en-US" sz="750" dirty="0"/>
          </a:p>
        </p:txBody>
      </p:sp>
      <p:sp>
        <p:nvSpPr>
          <p:cNvPr id="344" name="Text 342"/>
          <p:cNvSpPr/>
          <p:nvPr/>
        </p:nvSpPr>
        <p:spPr>
          <a:xfrm>
            <a:off x="1120140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345" name="Shape 343"/>
          <p:cNvSpPr/>
          <p:nvPr/>
        </p:nvSpPr>
        <p:spPr>
          <a:xfrm>
            <a:off x="685800" y="1847088"/>
            <a:ext cx="5321808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8890">
            <a:solidFill>
              <a:srgbClr val="BFEBD8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987552" y="212140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71E6B2">
              <a:alpha val="20000"/>
            </a:srgbClr>
          </a:solidFill>
          <a:ln w="7620">
            <a:solidFill>
              <a:srgbClr val="71E6B2">
                <a:alpha val="90000"/>
              </a:srgbClr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987552" y="217170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0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已完成</a:t>
            </a:r>
            <a:endParaRPr lang="en-US" sz="750" dirty="0"/>
          </a:p>
        </p:txBody>
      </p:sp>
      <p:sp>
        <p:nvSpPr>
          <p:cNvPr id="348" name="Text 346"/>
          <p:cNvSpPr/>
          <p:nvPr/>
        </p:nvSpPr>
        <p:spPr>
          <a:xfrm>
            <a:off x="987552" y="26151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完整的 Agent Commerce MVP</a:t>
            </a:r>
            <a:endParaRPr lang="en-US" sz="1600" dirty="0"/>
          </a:p>
        </p:txBody>
      </p:sp>
      <p:sp>
        <p:nvSpPr>
          <p:cNvPr id="349" name="Shape 347"/>
          <p:cNvSpPr/>
          <p:nvPr/>
        </p:nvSpPr>
        <p:spPr>
          <a:xfrm>
            <a:off x="1024128" y="3246120"/>
            <a:ext cx="164592" cy="164592"/>
          </a:xfrm>
          <a:prstGeom prst="ellipse">
            <a:avLst/>
          </a:prstGeom>
          <a:solidFill>
            <a:srgbClr val="71E6B2"/>
          </a:solidFill>
          <a:ln w="12700">
            <a:solidFill>
              <a:srgbClr val="71E6B2"/>
            </a:solidFill>
            <a:prstDash val="solid"/>
          </a:ln>
        </p:spPr>
      </p:sp>
      <p:sp>
        <p:nvSpPr>
          <p:cNvPr id="350" name="Text 348"/>
          <p:cNvSpPr/>
          <p:nvPr/>
        </p:nvSpPr>
        <p:spPr>
          <a:xfrm>
            <a:off x="1353312" y="321868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402 + Monad Testnet 结算</a:t>
            </a:r>
            <a:endParaRPr lang="en-US" sz="1130" dirty="0"/>
          </a:p>
        </p:txBody>
      </p:sp>
      <p:sp>
        <p:nvSpPr>
          <p:cNvPr id="351" name="Shape 349"/>
          <p:cNvSpPr/>
          <p:nvPr/>
        </p:nvSpPr>
        <p:spPr>
          <a:xfrm>
            <a:off x="1024128" y="3776472"/>
            <a:ext cx="164592" cy="164592"/>
          </a:xfrm>
          <a:prstGeom prst="ellipse">
            <a:avLst/>
          </a:prstGeom>
          <a:solidFill>
            <a:srgbClr val="71E6B2"/>
          </a:solidFill>
          <a:ln w="12700">
            <a:solidFill>
              <a:srgbClr val="71E6B2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1353312" y="37490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D1 一次性支付证明消费</a:t>
            </a:r>
            <a:endParaRPr lang="en-US" sz="1130" dirty="0"/>
          </a:p>
        </p:txBody>
      </p:sp>
      <p:sp>
        <p:nvSpPr>
          <p:cNvPr id="353" name="Shape 351"/>
          <p:cNvSpPr/>
          <p:nvPr/>
        </p:nvSpPr>
        <p:spPr>
          <a:xfrm>
            <a:off x="1024128" y="4306824"/>
            <a:ext cx="164592" cy="164592"/>
          </a:xfrm>
          <a:prstGeom prst="ellipse">
            <a:avLst/>
          </a:prstGeom>
          <a:solidFill>
            <a:srgbClr val="71E6B2"/>
          </a:solidFill>
          <a:ln w="12700">
            <a:solidFill>
              <a:srgbClr val="71E6B2"/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>
            <a:off x="1353312" y="42793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Tavily + DeepSeek 证据化流式研究</a:t>
            </a:r>
            <a:endParaRPr lang="en-US" sz="1130" dirty="0"/>
          </a:p>
        </p:txBody>
      </p:sp>
      <p:sp>
        <p:nvSpPr>
          <p:cNvPr id="355" name="Shape 353"/>
          <p:cNvSpPr/>
          <p:nvPr/>
        </p:nvSpPr>
        <p:spPr>
          <a:xfrm>
            <a:off x="6199632" y="1847088"/>
            <a:ext cx="5321808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8890">
            <a:solidFill>
              <a:srgbClr val="FFD7A7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501384" y="212140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FC76A">
              <a:alpha val="20000"/>
            </a:srgbClr>
          </a:solidFill>
          <a:ln w="7620">
            <a:solidFill>
              <a:srgbClr val="FFC76A">
                <a:alpha val="90000"/>
              </a:srgbClr>
            </a:solidFill>
            <a:prstDash val="solid"/>
          </a:ln>
        </p:spPr>
      </p:sp>
      <p:sp>
        <p:nvSpPr>
          <p:cNvPr id="357" name="Text 355"/>
          <p:cNvSpPr/>
          <p:nvPr/>
        </p:nvSpPr>
        <p:spPr>
          <a:xfrm>
            <a:off x="6501384" y="217170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0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下一步</a:t>
            </a:r>
            <a:endParaRPr lang="en-US" sz="750" dirty="0"/>
          </a:p>
        </p:txBody>
      </p:sp>
      <p:sp>
        <p:nvSpPr>
          <p:cNvPr id="358" name="Text 356"/>
          <p:cNvSpPr/>
          <p:nvPr/>
        </p:nvSpPr>
        <p:spPr>
          <a:xfrm>
            <a:off x="6501384" y="26151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不夸大的项目边界</a:t>
            </a:r>
            <a:endParaRPr lang="en-US" sz="1600" dirty="0"/>
          </a:p>
        </p:txBody>
      </p:sp>
      <p:sp>
        <p:nvSpPr>
          <p:cNvPr id="359" name="Shape 357"/>
          <p:cNvSpPr/>
          <p:nvPr/>
        </p:nvSpPr>
        <p:spPr>
          <a:xfrm>
            <a:off x="6537960" y="3246120"/>
            <a:ext cx="164592" cy="164592"/>
          </a:xfrm>
          <a:prstGeom prst="ellipse">
            <a:avLst/>
          </a:prstGeom>
          <a:solidFill>
            <a:srgbClr val="FFC76A"/>
          </a:solidFill>
          <a:ln w="12700">
            <a:solidFill>
              <a:srgbClr val="FFC76A"/>
            </a:solidFill>
            <a:prstDash val="solid"/>
          </a:ln>
        </p:spPr>
      </p:sp>
      <p:sp>
        <p:nvSpPr>
          <p:cNvPr id="360" name="Text 358"/>
          <p:cNvSpPr/>
          <p:nvPr/>
        </p:nvSpPr>
        <p:spPr>
          <a:xfrm>
            <a:off x="6867144" y="321868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Provider 与开放式服务市场</a:t>
            </a:r>
            <a:endParaRPr lang="en-US" sz="1130" dirty="0"/>
          </a:p>
        </p:txBody>
      </p:sp>
      <p:sp>
        <p:nvSpPr>
          <p:cNvPr id="361" name="Shape 359"/>
          <p:cNvSpPr/>
          <p:nvPr/>
        </p:nvSpPr>
        <p:spPr>
          <a:xfrm>
            <a:off x="6537960" y="3776472"/>
            <a:ext cx="164592" cy="164592"/>
          </a:xfrm>
          <a:prstGeom prst="ellipse">
            <a:avLst/>
          </a:prstGeom>
          <a:solidFill>
            <a:srgbClr val="FFC76A"/>
          </a:solidFill>
          <a:ln w="12700">
            <a:solidFill>
              <a:srgbClr val="FFC76A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6867144" y="37490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智能账户限额与链上声誉</a:t>
            </a:r>
            <a:endParaRPr lang="en-US" sz="1130" dirty="0"/>
          </a:p>
        </p:txBody>
      </p:sp>
      <p:sp>
        <p:nvSpPr>
          <p:cNvPr id="363" name="Shape 361"/>
          <p:cNvSpPr/>
          <p:nvPr/>
        </p:nvSpPr>
        <p:spPr>
          <a:xfrm>
            <a:off x="6537960" y="4306824"/>
            <a:ext cx="164592" cy="164592"/>
          </a:xfrm>
          <a:prstGeom prst="ellipse">
            <a:avLst/>
          </a:prstGeom>
          <a:solidFill>
            <a:srgbClr val="FFC76A"/>
          </a:solidFill>
          <a:ln w="12700">
            <a:solidFill>
              <a:srgbClr val="FFC76A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6867144" y="42793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托管、退款、争议处理与生产级运营</a:t>
            </a:r>
            <a:endParaRPr lang="en-US" sz="1130" dirty="0"/>
          </a:p>
        </p:txBody>
      </p:sp>
      <p:sp>
        <p:nvSpPr>
          <p:cNvPr id="365" name="Text 363"/>
          <p:cNvSpPr/>
          <p:nvPr/>
        </p:nvSpPr>
        <p:spPr>
          <a:xfrm>
            <a:off x="1078992" y="5879592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021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MCPay 让 Agent 不止会调用工具，而是能在预算约束下参与可验证的服务经济。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MCPay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MCPay — Agent Commerce on Monad</dc:title>
  <dc:subject>MCPay 项目介绍</dc:subject>
  <dc:creator>MCPay</dc:creator>
  <cp:lastModifiedBy>MCPay</cp:lastModifiedBy>
  <cp:revision>1</cp:revision>
  <dcterms:created xsi:type="dcterms:W3CDTF">2026-08-15T09:33:08Z</dcterms:created>
  <dcterms:modified xsi:type="dcterms:W3CDTF">2026-08-15T09:33:08Z</dcterms:modified>
</cp:coreProperties>
</file>